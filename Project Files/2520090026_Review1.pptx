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99" y="6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7019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114800" cy="4114800"/>
          </a:xfrm>
          <a:prstGeom prst="ellipse">
            <a:avLst/>
          </a:prstGeom>
          <a:solidFill>
            <a:srgbClr val="065A82">
              <a:alpha val="60000"/>
            </a:srgbClr>
          </a:solidFill>
          <a:ln/>
        </p:spPr>
        <p:txBody>
          <a:bodyPr/>
          <a:lstStyle/>
          <a:p>
            <a:endParaRPr lang="en-IN"/>
          </a:p>
        </p:txBody>
      </p:sp>
      <p:sp>
        <p:nvSpPr>
          <p:cNvPr id="3" name="Shape 1"/>
          <p:cNvSpPr/>
          <p:nvPr/>
        </p:nvSpPr>
        <p:spPr>
          <a:xfrm>
            <a:off x="10607040" y="4754880"/>
            <a:ext cx="2926080" cy="2926080"/>
          </a:xfrm>
          <a:prstGeom prst="ellipse">
            <a:avLst/>
          </a:prstGeom>
          <a:solidFill>
            <a:srgbClr val="1C7293">
              <a:alpha val="50000"/>
            </a:srgbClr>
          </a:solidFill>
          <a:ln/>
        </p:spPr>
        <p:txBody>
          <a:bodyPr/>
          <a:lstStyle/>
          <a:p>
            <a:endParaRPr lang="en-IN"/>
          </a:p>
        </p:txBody>
      </p:sp>
      <p:sp>
        <p:nvSpPr>
          <p:cNvPr id="4" name="Text 2"/>
          <p:cNvSpPr/>
          <p:nvPr/>
        </p:nvSpPr>
        <p:spPr>
          <a:xfrm>
            <a:off x="640080" y="548640"/>
            <a:ext cx="9601200" cy="365760"/>
          </a:xfrm>
          <a:prstGeom prst="rect">
            <a:avLst/>
          </a:prstGeom>
          <a:noFill/>
          <a:ln/>
        </p:spPr>
        <p:txBody>
          <a:bodyPr wrap="square" rtlCol="0" anchor="ctr"/>
          <a:lstStyle/>
          <a:p>
            <a:pPr marL="0" indent="0">
              <a:buNone/>
            </a:pPr>
            <a:r>
              <a:rPr lang="en-US" sz="1100" b="1" kern="0" spc="100" dirty="0">
                <a:solidFill>
                  <a:srgbClr val="A9C6DE"/>
                </a:solidFill>
                <a:latin typeface="Calibri" pitchFamily="34" charset="0"/>
                <a:ea typeface="Calibri" pitchFamily="34" charset="-122"/>
                <a:cs typeface="Calibri" pitchFamily="34" charset="-120"/>
              </a:rPr>
              <a:t>Y25 · 2026-2027 · TRIMESTER 4  |  DATABASE SYSTEMS ENGINEERING &amp; DISTRIBUTED BACKEND DEVELOPMENT</a:t>
            </a:r>
            <a:endParaRPr lang="en-US" sz="1100" dirty="0"/>
          </a:p>
        </p:txBody>
      </p:sp>
      <p:sp>
        <p:nvSpPr>
          <p:cNvPr id="5" name="Text 3"/>
          <p:cNvSpPr/>
          <p:nvPr/>
        </p:nvSpPr>
        <p:spPr>
          <a:xfrm>
            <a:off x="640080" y="1371600"/>
            <a:ext cx="9601200" cy="2194560"/>
          </a:xfrm>
          <a:prstGeom prst="rect">
            <a:avLst/>
          </a:prstGeom>
          <a:noFill/>
          <a:ln/>
        </p:spPr>
        <p:txBody>
          <a:bodyPr wrap="square"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Online Learning</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Management System</a:t>
            </a:r>
            <a:endParaRPr lang="en-US" sz="4400" dirty="0"/>
          </a:p>
        </p:txBody>
      </p:sp>
      <p:sp>
        <p:nvSpPr>
          <p:cNvPr id="6" name="Text 4"/>
          <p:cNvSpPr/>
          <p:nvPr/>
        </p:nvSpPr>
        <p:spPr>
          <a:xfrm>
            <a:off x="640080" y="3611880"/>
            <a:ext cx="8046720" cy="64008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A full-stack e-learning platform for course authoring, video streaming, assessments, and progress certification.</a:t>
            </a:r>
            <a:endParaRPr lang="en-US" sz="1500" dirty="0"/>
          </a:p>
        </p:txBody>
      </p:sp>
      <p:sp>
        <p:nvSpPr>
          <p:cNvPr id="7" name="Shape 5"/>
          <p:cNvSpPr/>
          <p:nvPr/>
        </p:nvSpPr>
        <p:spPr>
          <a:xfrm>
            <a:off x="640080" y="4590662"/>
            <a:ext cx="8138160" cy="1371600"/>
          </a:xfrm>
          <a:prstGeom prst="roundRect">
            <a:avLst>
              <a:gd name="adj" fmla="val 5333"/>
            </a:avLst>
          </a:prstGeom>
          <a:solidFill>
            <a:srgbClr val="065A82">
              <a:alpha val="75000"/>
            </a:srgbClr>
          </a:solidFill>
          <a:ln/>
        </p:spPr>
        <p:txBody>
          <a:bodyPr/>
          <a:lstStyle/>
          <a:p>
            <a:endParaRPr lang="en-IN"/>
          </a:p>
        </p:txBody>
      </p:sp>
      <p:sp>
        <p:nvSpPr>
          <p:cNvPr id="8" name="Text 6"/>
          <p:cNvSpPr/>
          <p:nvPr/>
        </p:nvSpPr>
        <p:spPr>
          <a:xfrm>
            <a:off x="914400" y="4754880"/>
            <a:ext cx="1828800" cy="320040"/>
          </a:xfrm>
          <a:prstGeom prst="rect">
            <a:avLst/>
          </a:prstGeom>
          <a:noFill/>
          <a:ln/>
        </p:spPr>
        <p:txBody>
          <a:bodyPr wrap="square" rtlCol="0" anchor="ctr"/>
          <a:lstStyle/>
          <a:p>
            <a:pPr marL="0" indent="0">
              <a:buNone/>
            </a:pPr>
            <a:r>
              <a:rPr lang="en-US" sz="1000" b="1" kern="0" spc="100" dirty="0">
                <a:solidFill>
                  <a:srgbClr val="9FC3E0"/>
                </a:solidFill>
                <a:latin typeface="Calibri" pitchFamily="34" charset="0"/>
                <a:ea typeface="Calibri" pitchFamily="34" charset="-122"/>
                <a:cs typeface="Calibri" pitchFamily="34" charset="-120"/>
              </a:rPr>
              <a:t>SEC NO.</a:t>
            </a:r>
            <a:endParaRPr lang="en-US" sz="1000" dirty="0"/>
          </a:p>
        </p:txBody>
      </p:sp>
      <p:sp>
        <p:nvSpPr>
          <p:cNvPr id="9" name="Text 7"/>
          <p:cNvSpPr/>
          <p:nvPr/>
        </p:nvSpPr>
        <p:spPr>
          <a:xfrm>
            <a:off x="914400" y="5074920"/>
            <a:ext cx="182880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10</a:t>
            </a:r>
            <a:endParaRPr lang="en-US" sz="2400" dirty="0"/>
          </a:p>
        </p:txBody>
      </p:sp>
      <p:sp>
        <p:nvSpPr>
          <p:cNvPr id="10" name="Text 8"/>
          <p:cNvSpPr/>
          <p:nvPr/>
        </p:nvSpPr>
        <p:spPr>
          <a:xfrm>
            <a:off x="2743200" y="4754880"/>
            <a:ext cx="1828800" cy="320040"/>
          </a:xfrm>
          <a:prstGeom prst="rect">
            <a:avLst/>
          </a:prstGeom>
          <a:noFill/>
          <a:ln/>
        </p:spPr>
        <p:txBody>
          <a:bodyPr wrap="square" rtlCol="0" anchor="ctr"/>
          <a:lstStyle/>
          <a:p>
            <a:pPr marL="0" indent="0">
              <a:buNone/>
            </a:pPr>
            <a:r>
              <a:rPr lang="en-US" sz="1000" b="1" kern="0" spc="100" dirty="0">
                <a:solidFill>
                  <a:srgbClr val="9FC3E0"/>
                </a:solidFill>
                <a:latin typeface="Calibri" pitchFamily="34" charset="0"/>
                <a:ea typeface="Calibri" pitchFamily="34" charset="-122"/>
                <a:cs typeface="Calibri" pitchFamily="34" charset="-120"/>
              </a:rPr>
              <a:t>TEAM NO.</a:t>
            </a:r>
            <a:endParaRPr lang="en-US" sz="1000" dirty="0"/>
          </a:p>
        </p:txBody>
      </p:sp>
      <p:sp>
        <p:nvSpPr>
          <p:cNvPr id="11" name="Text 9"/>
          <p:cNvSpPr/>
          <p:nvPr/>
        </p:nvSpPr>
        <p:spPr>
          <a:xfrm>
            <a:off x="2743200" y="5074920"/>
            <a:ext cx="182880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rPr>
              <a:t>27</a:t>
            </a:r>
            <a:endParaRPr lang="en-US" sz="2400" dirty="0"/>
          </a:p>
        </p:txBody>
      </p:sp>
      <p:sp>
        <p:nvSpPr>
          <p:cNvPr id="12" name="Text 10"/>
          <p:cNvSpPr/>
          <p:nvPr/>
        </p:nvSpPr>
        <p:spPr>
          <a:xfrm>
            <a:off x="4754880" y="4754880"/>
            <a:ext cx="3840480" cy="320040"/>
          </a:xfrm>
          <a:prstGeom prst="rect">
            <a:avLst/>
          </a:prstGeom>
          <a:noFill/>
          <a:ln/>
        </p:spPr>
        <p:txBody>
          <a:bodyPr wrap="square" rtlCol="0" anchor="ctr"/>
          <a:lstStyle/>
          <a:p>
            <a:pPr marL="0" indent="0">
              <a:buNone/>
            </a:pPr>
            <a:r>
              <a:rPr lang="en-US" sz="1000" b="1" kern="0" spc="100" dirty="0">
                <a:solidFill>
                  <a:srgbClr val="9FC3E0"/>
                </a:solidFill>
                <a:latin typeface="Calibri" pitchFamily="34" charset="0"/>
                <a:ea typeface="Calibri" pitchFamily="34" charset="-122"/>
                <a:cs typeface="Calibri" pitchFamily="34" charset="-120"/>
              </a:rPr>
              <a:t>TEAM MEMBERS</a:t>
            </a:r>
            <a:endParaRPr lang="en-US" sz="1000" dirty="0"/>
          </a:p>
        </p:txBody>
      </p:sp>
      <p:sp>
        <p:nvSpPr>
          <p:cNvPr id="13" name="Text 11"/>
          <p:cNvSpPr/>
          <p:nvPr/>
        </p:nvSpPr>
        <p:spPr>
          <a:xfrm>
            <a:off x="4754880" y="5029200"/>
            <a:ext cx="3840480" cy="777240"/>
          </a:xfrm>
          <a:prstGeom prst="rect">
            <a:avLst/>
          </a:prstGeom>
          <a:noFill/>
          <a:ln/>
        </p:spPr>
        <p:txBody>
          <a:bodyPr wrap="square"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Venkat Siddharth Reddy Moku</a:t>
            </a:r>
            <a:endParaRPr lang="en-US" sz="1300" dirty="0"/>
          </a:p>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Sai Saketh Vutharavalli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966960" y="-1188720"/>
            <a:ext cx="3291840" cy="3291840"/>
          </a:xfrm>
          <a:prstGeom prst="ellipse">
            <a:avLst/>
          </a:prstGeom>
          <a:solidFill>
            <a:srgbClr val="F4F7F9"/>
          </a:solidFill>
          <a:ln/>
        </p:spPr>
        <p:txBody>
          <a:bodyPr/>
          <a:lstStyle/>
          <a:p>
            <a:endParaRPr lang="en-IN"/>
          </a:p>
        </p:txBody>
      </p:sp>
      <p:sp>
        <p:nvSpPr>
          <p:cNvPr id="3" name="Text 1"/>
          <p:cNvSpPr/>
          <p:nvPr/>
        </p:nvSpPr>
        <p:spPr>
          <a:xfrm>
            <a:off x="640080" y="502920"/>
            <a:ext cx="7315200" cy="548640"/>
          </a:xfrm>
          <a:prstGeom prst="rect">
            <a:avLst/>
          </a:prstGeom>
          <a:noFill/>
          <a:ln/>
        </p:spPr>
        <p:txBody>
          <a:bodyPr wrap="square" rtlCol="0" anchor="ctr"/>
          <a:lstStyle/>
          <a:p>
            <a:pPr marL="0" indent="0">
              <a:buNone/>
            </a:pPr>
            <a:r>
              <a:rPr lang="en-US" sz="3000" b="1" dirty="0">
                <a:solidFill>
                  <a:srgbClr val="1B2733"/>
                </a:solidFill>
                <a:latin typeface="Cambria" pitchFamily="34" charset="0"/>
                <a:ea typeface="Cambria" pitchFamily="34" charset="-122"/>
                <a:cs typeface="Cambria" pitchFamily="34" charset="-120"/>
              </a:rPr>
              <a:t>Project Abstract</a:t>
            </a:r>
            <a:endParaRPr lang="en-US" sz="3000" dirty="0"/>
          </a:p>
        </p:txBody>
      </p:sp>
      <p:sp>
        <p:nvSpPr>
          <p:cNvPr id="4" name="Text 2"/>
          <p:cNvSpPr/>
          <p:nvPr/>
        </p:nvSpPr>
        <p:spPr>
          <a:xfrm>
            <a:off x="640080" y="1078992"/>
            <a:ext cx="8686800" cy="365760"/>
          </a:xfrm>
          <a:prstGeom prst="rect">
            <a:avLst/>
          </a:prstGeom>
          <a:noFill/>
          <a:ln/>
        </p:spPr>
        <p:txBody>
          <a:bodyPr wrap="square" rtlCol="0" anchor="ctr"/>
          <a:lstStyle/>
          <a:p>
            <a:pPr marL="0" indent="0">
              <a:buNone/>
            </a:pPr>
            <a:r>
              <a:rPr lang="en-US" sz="1300" i="1" dirty="0">
                <a:solidFill>
                  <a:srgbClr val="5B6B77"/>
                </a:solidFill>
                <a:latin typeface="Calibri" pitchFamily="34" charset="0"/>
                <a:ea typeface="Calibri" pitchFamily="34" charset="-122"/>
                <a:cs typeface="Calibri" pitchFamily="34" charset="-120"/>
              </a:rPr>
              <a:t>Summary of the project idea, problem background, and proposed solution</a:t>
            </a:r>
            <a:endParaRPr lang="en-US" sz="1300" dirty="0"/>
          </a:p>
        </p:txBody>
      </p:sp>
      <p:sp>
        <p:nvSpPr>
          <p:cNvPr id="5" name="Shape 3"/>
          <p:cNvSpPr/>
          <p:nvPr/>
        </p:nvSpPr>
        <p:spPr>
          <a:xfrm>
            <a:off x="640080" y="1645920"/>
            <a:ext cx="10881360" cy="4754880"/>
          </a:xfrm>
          <a:prstGeom prst="roundRect">
            <a:avLst>
              <a:gd name="adj" fmla="val 1923"/>
            </a:avLst>
          </a:prstGeom>
          <a:solidFill>
            <a:srgbClr val="F4F7F9"/>
          </a:solidFill>
          <a:ln/>
        </p:spPr>
        <p:txBody>
          <a:bodyPr/>
          <a:lstStyle/>
          <a:p>
            <a:endParaRPr lang="en-IN"/>
          </a:p>
        </p:txBody>
      </p:sp>
      <p:sp>
        <p:nvSpPr>
          <p:cNvPr id="6" name="Shape 4"/>
          <p:cNvSpPr/>
          <p:nvPr/>
        </p:nvSpPr>
        <p:spPr>
          <a:xfrm>
            <a:off x="640080" y="1645920"/>
            <a:ext cx="82296" cy="4754880"/>
          </a:xfrm>
          <a:prstGeom prst="rect">
            <a:avLst/>
          </a:prstGeom>
          <a:solidFill>
            <a:srgbClr val="065A82"/>
          </a:solidFill>
          <a:ln/>
        </p:spPr>
        <p:txBody>
          <a:bodyPr/>
          <a:lstStyle/>
          <a:p>
            <a:endParaRPr lang="en-IN"/>
          </a:p>
        </p:txBody>
      </p:sp>
      <p:sp>
        <p:nvSpPr>
          <p:cNvPr id="7" name="Text 5"/>
          <p:cNvSpPr/>
          <p:nvPr/>
        </p:nvSpPr>
        <p:spPr>
          <a:xfrm>
            <a:off x="1051560" y="1920240"/>
            <a:ext cx="10104120" cy="4206240"/>
          </a:xfrm>
          <a:prstGeom prst="rect">
            <a:avLst/>
          </a:prstGeom>
          <a:noFill/>
          <a:ln/>
        </p:spPr>
        <p:txBody>
          <a:bodyPr wrap="square" rtlCol="0" anchor="t"/>
          <a:lstStyle/>
          <a:p>
            <a:pPr marL="0" indent="0" algn="l">
              <a:lnSpc>
                <a:spcPct val="130000"/>
              </a:lnSpc>
              <a:buNone/>
            </a:pPr>
            <a:r>
              <a:rPr lang="en-US" sz="1400" dirty="0">
                <a:solidFill>
                  <a:srgbClr val="1B2733"/>
                </a:solidFill>
                <a:latin typeface="Calibri" pitchFamily="34" charset="0"/>
                <a:ea typeface="Calibri" pitchFamily="34" charset="-122"/>
                <a:cs typeface="Calibri" pitchFamily="34" charset="-120"/>
              </a:rPr>
              <a:t>The Online Learning Management System (LMS) is a full-stack e-learning platform designed to bridge the gap between instructors and learners by offering an integrated environment for course delivery, assessment, and progress tracking. Traditional classroom-only learning struggles to scale, track engagement, and provide learners with flexible, verifiable outcomes, while many existing LMS tools are either too rigid or lack real-time interactivity. This project addresses that gap by building a complete platform where instructors can author and publish courses, upload and stream video lectures, and create quizzes and assignments, while students can enroll, learn at their own pace, attempt assessments, and track their progress toward certification. The proposed solution uses React.js for a responsive front-end, Node.js and Express for a scalable back-end API, and MySQL for structured, relational storage of users, courses, and progress data. AWS S3 is used for reliable, scalable storage and streaming of video lecture content, JWT ensures secure, role-based authentication for students, instructors, and admins, and Socket.io enables real-time features such as live discussion forums and notifications. Core modules include User and Role Management, a Course Builder, Video Lecture Streaming, a Quiz and Assignment Engine, Progress Tracking and Certificate generation, a Discussion Forum, and an Admin Analytics dashboard for monitoring platform-wide engagement and performance.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548640"/>
          </a:xfrm>
          <a:prstGeom prst="rect">
            <a:avLst/>
          </a:prstGeom>
          <a:noFill/>
          <a:ln/>
        </p:spPr>
        <p:txBody>
          <a:bodyPr wrap="square" rtlCol="0" anchor="ctr"/>
          <a:lstStyle/>
          <a:p>
            <a:pPr marL="0" indent="0">
              <a:buNone/>
            </a:pPr>
            <a:r>
              <a:rPr lang="en-US" sz="3000" b="1" dirty="0">
                <a:solidFill>
                  <a:srgbClr val="1B2733"/>
                </a:solidFill>
                <a:latin typeface="Cambria" pitchFamily="34" charset="0"/>
                <a:ea typeface="Cambria" pitchFamily="34" charset="-122"/>
                <a:cs typeface="Cambria" pitchFamily="34" charset="-120"/>
              </a:rPr>
              <a:t>The Problem</a:t>
            </a:r>
            <a:endParaRPr lang="en-US" sz="3000" dirty="0"/>
          </a:p>
        </p:txBody>
      </p:sp>
      <p:sp>
        <p:nvSpPr>
          <p:cNvPr id="3" name="Shape 1"/>
          <p:cNvSpPr/>
          <p:nvPr/>
        </p:nvSpPr>
        <p:spPr>
          <a:xfrm>
            <a:off x="640080" y="1417320"/>
            <a:ext cx="3444240" cy="2331720"/>
          </a:xfrm>
          <a:prstGeom prst="roundRect">
            <a:avLst>
              <a:gd name="adj" fmla="val 3529"/>
            </a:avLst>
          </a:prstGeom>
          <a:solidFill>
            <a:srgbClr val="FFFFFF"/>
          </a:solidFill>
          <a:ln/>
          <a:effectLst>
            <a:outerShdw blurRad="101600" dist="38100" dir="5400000" algn="bl" rotWithShape="0">
              <a:srgbClr val="1B2733">
                <a:alpha val="15000"/>
              </a:srgbClr>
            </a:outerShdw>
          </a:effectLst>
        </p:spPr>
        <p:txBody>
          <a:bodyPr/>
          <a:lstStyle/>
          <a:p>
            <a:endParaRPr lang="en-IN"/>
          </a:p>
        </p:txBody>
      </p:sp>
      <p:sp>
        <p:nvSpPr>
          <p:cNvPr id="4" name="Shape 2"/>
          <p:cNvSpPr/>
          <p:nvPr/>
        </p:nvSpPr>
        <p:spPr>
          <a:xfrm>
            <a:off x="960120" y="1737360"/>
            <a:ext cx="594360" cy="594360"/>
          </a:xfrm>
          <a:prstGeom prst="ellipse">
            <a:avLst/>
          </a:prstGeom>
          <a:solidFill>
            <a:srgbClr val="065A82"/>
          </a:solidFill>
          <a:ln/>
        </p:spPr>
        <p:txBody>
          <a:bodyPr/>
          <a:lstStyle/>
          <a:p>
            <a:endParaRPr lang="en-IN"/>
          </a:p>
        </p:txBody>
      </p:sp>
      <p:sp>
        <p:nvSpPr>
          <p:cNvPr id="5" name="Text 3"/>
          <p:cNvSpPr/>
          <p:nvPr/>
        </p:nvSpPr>
        <p:spPr>
          <a:xfrm>
            <a:off x="960120" y="1737360"/>
            <a:ext cx="594360" cy="59436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914400" y="2468880"/>
            <a:ext cx="2895600" cy="457200"/>
          </a:xfrm>
          <a:prstGeom prst="rect">
            <a:avLst/>
          </a:prstGeom>
          <a:noFill/>
          <a:ln/>
        </p:spPr>
        <p:txBody>
          <a:bodyPr wrap="square" rtlCol="0" anchor="ctr"/>
          <a:lstStyle/>
          <a:p>
            <a:pPr marL="0" indent="0">
              <a:buNone/>
            </a:pPr>
            <a:r>
              <a:rPr lang="en-US" sz="1700" b="1" dirty="0">
                <a:solidFill>
                  <a:srgbClr val="1B2733"/>
                </a:solidFill>
                <a:latin typeface="Cambria" pitchFamily="34" charset="0"/>
                <a:ea typeface="Cambria" pitchFamily="34" charset="-122"/>
                <a:cs typeface="Cambria" pitchFamily="34" charset="-120"/>
              </a:rPr>
              <a:t>Doesn’t Scale</a:t>
            </a:r>
            <a:endParaRPr lang="en-US" sz="1700" dirty="0"/>
          </a:p>
        </p:txBody>
      </p:sp>
      <p:sp>
        <p:nvSpPr>
          <p:cNvPr id="7" name="Text 5"/>
          <p:cNvSpPr/>
          <p:nvPr/>
        </p:nvSpPr>
        <p:spPr>
          <a:xfrm>
            <a:off x="914400" y="2926080"/>
            <a:ext cx="2895600" cy="777240"/>
          </a:xfrm>
          <a:prstGeom prst="rect">
            <a:avLst/>
          </a:prstGeom>
          <a:noFill/>
          <a:ln/>
        </p:spPr>
        <p:txBody>
          <a:bodyPr wrap="square" rtlCol="0" anchor="ctr"/>
          <a:lstStyle/>
          <a:p>
            <a:pPr marL="0" indent="0">
              <a:lnSpc>
                <a:spcPct val="115000"/>
              </a:lnSpc>
              <a:buNone/>
            </a:pPr>
            <a:r>
              <a:rPr lang="en-US" sz="1200" dirty="0">
                <a:solidFill>
                  <a:srgbClr val="5B6B77"/>
                </a:solidFill>
                <a:latin typeface="Calibri" pitchFamily="34" charset="0"/>
                <a:ea typeface="Calibri" pitchFamily="34" charset="-122"/>
                <a:cs typeface="Calibri" pitchFamily="34" charset="-120"/>
              </a:rPr>
              <a:t>Traditional classroom-only learning struggles to reach and support large numbers of students consistently.</a:t>
            </a:r>
            <a:endParaRPr lang="en-US" sz="1200" dirty="0"/>
          </a:p>
        </p:txBody>
      </p:sp>
      <p:sp>
        <p:nvSpPr>
          <p:cNvPr id="8" name="Shape 6"/>
          <p:cNvSpPr/>
          <p:nvPr/>
        </p:nvSpPr>
        <p:spPr>
          <a:xfrm>
            <a:off x="4404360" y="1417320"/>
            <a:ext cx="3444240" cy="2331720"/>
          </a:xfrm>
          <a:prstGeom prst="roundRect">
            <a:avLst>
              <a:gd name="adj" fmla="val 3529"/>
            </a:avLst>
          </a:prstGeom>
          <a:solidFill>
            <a:srgbClr val="FFFFFF"/>
          </a:solidFill>
          <a:ln/>
          <a:effectLst>
            <a:outerShdw blurRad="101600" dist="38100" dir="5400000" algn="bl" rotWithShape="0">
              <a:srgbClr val="1B2733">
                <a:alpha val="15000"/>
              </a:srgbClr>
            </a:outerShdw>
          </a:effectLst>
        </p:spPr>
        <p:txBody>
          <a:bodyPr/>
          <a:lstStyle/>
          <a:p>
            <a:endParaRPr lang="en-IN"/>
          </a:p>
        </p:txBody>
      </p:sp>
      <p:sp>
        <p:nvSpPr>
          <p:cNvPr id="9" name="Shape 7"/>
          <p:cNvSpPr/>
          <p:nvPr/>
        </p:nvSpPr>
        <p:spPr>
          <a:xfrm>
            <a:off x="4724400" y="1737360"/>
            <a:ext cx="594360" cy="594360"/>
          </a:xfrm>
          <a:prstGeom prst="ellipse">
            <a:avLst/>
          </a:prstGeom>
          <a:solidFill>
            <a:srgbClr val="1C7293"/>
          </a:solidFill>
          <a:ln/>
        </p:spPr>
        <p:txBody>
          <a:bodyPr/>
          <a:lstStyle/>
          <a:p>
            <a:endParaRPr lang="en-IN"/>
          </a:p>
        </p:txBody>
      </p:sp>
      <p:sp>
        <p:nvSpPr>
          <p:cNvPr id="10" name="Text 8"/>
          <p:cNvSpPr/>
          <p:nvPr/>
        </p:nvSpPr>
        <p:spPr>
          <a:xfrm>
            <a:off x="4724400" y="1737360"/>
            <a:ext cx="594360" cy="59436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4678680" y="2468880"/>
            <a:ext cx="2895600" cy="457200"/>
          </a:xfrm>
          <a:prstGeom prst="rect">
            <a:avLst/>
          </a:prstGeom>
          <a:noFill/>
          <a:ln/>
        </p:spPr>
        <p:txBody>
          <a:bodyPr wrap="square" rtlCol="0" anchor="ctr"/>
          <a:lstStyle/>
          <a:p>
            <a:pPr marL="0" indent="0">
              <a:buNone/>
            </a:pPr>
            <a:r>
              <a:rPr lang="en-US" sz="1700" b="1" dirty="0">
                <a:solidFill>
                  <a:srgbClr val="1B2733"/>
                </a:solidFill>
                <a:latin typeface="Cambria" pitchFamily="34" charset="0"/>
                <a:ea typeface="Cambria" pitchFamily="34" charset="-122"/>
                <a:cs typeface="Cambria" pitchFamily="34" charset="-120"/>
              </a:rPr>
              <a:t>Low Visibility</a:t>
            </a:r>
            <a:endParaRPr lang="en-US" sz="1700" dirty="0"/>
          </a:p>
        </p:txBody>
      </p:sp>
      <p:sp>
        <p:nvSpPr>
          <p:cNvPr id="12" name="Text 10"/>
          <p:cNvSpPr/>
          <p:nvPr/>
        </p:nvSpPr>
        <p:spPr>
          <a:xfrm>
            <a:off x="4678680" y="2926080"/>
            <a:ext cx="2895600" cy="777240"/>
          </a:xfrm>
          <a:prstGeom prst="rect">
            <a:avLst/>
          </a:prstGeom>
          <a:noFill/>
          <a:ln/>
        </p:spPr>
        <p:txBody>
          <a:bodyPr wrap="square" rtlCol="0" anchor="ctr"/>
          <a:lstStyle/>
          <a:p>
            <a:pPr marL="0" indent="0">
              <a:lnSpc>
                <a:spcPct val="115000"/>
              </a:lnSpc>
              <a:buNone/>
            </a:pPr>
            <a:r>
              <a:rPr lang="en-US" sz="1200" dirty="0">
                <a:solidFill>
                  <a:srgbClr val="5B6B77"/>
                </a:solidFill>
                <a:latin typeface="Calibri" pitchFamily="34" charset="0"/>
                <a:ea typeface="Calibri" pitchFamily="34" charset="-122"/>
                <a:cs typeface="Calibri" pitchFamily="34" charset="-120"/>
              </a:rPr>
              <a:t>Instructors lack real-time insight into how students are actually engaging and progressing.</a:t>
            </a:r>
            <a:endParaRPr lang="en-US" sz="1200" dirty="0"/>
          </a:p>
        </p:txBody>
      </p:sp>
      <p:sp>
        <p:nvSpPr>
          <p:cNvPr id="13" name="Shape 11"/>
          <p:cNvSpPr/>
          <p:nvPr/>
        </p:nvSpPr>
        <p:spPr>
          <a:xfrm>
            <a:off x="8168640" y="1417320"/>
            <a:ext cx="3444240" cy="2331720"/>
          </a:xfrm>
          <a:prstGeom prst="roundRect">
            <a:avLst>
              <a:gd name="adj" fmla="val 3529"/>
            </a:avLst>
          </a:prstGeom>
          <a:solidFill>
            <a:srgbClr val="FFFFFF"/>
          </a:solidFill>
          <a:ln/>
          <a:effectLst>
            <a:outerShdw blurRad="101600" dist="38100" dir="5400000" algn="bl" rotWithShape="0">
              <a:srgbClr val="1B2733">
                <a:alpha val="15000"/>
              </a:srgbClr>
            </a:outerShdw>
          </a:effectLst>
        </p:spPr>
        <p:txBody>
          <a:bodyPr/>
          <a:lstStyle/>
          <a:p>
            <a:endParaRPr lang="en-IN"/>
          </a:p>
        </p:txBody>
      </p:sp>
      <p:sp>
        <p:nvSpPr>
          <p:cNvPr id="14" name="Shape 12"/>
          <p:cNvSpPr/>
          <p:nvPr/>
        </p:nvSpPr>
        <p:spPr>
          <a:xfrm>
            <a:off x="8488680" y="1737360"/>
            <a:ext cx="594360" cy="594360"/>
          </a:xfrm>
          <a:prstGeom prst="ellipse">
            <a:avLst/>
          </a:prstGeom>
          <a:solidFill>
            <a:srgbClr val="21295C"/>
          </a:solidFill>
          <a:ln/>
        </p:spPr>
        <p:txBody>
          <a:bodyPr/>
          <a:lstStyle/>
          <a:p>
            <a:endParaRPr lang="en-IN"/>
          </a:p>
        </p:txBody>
      </p:sp>
      <p:sp>
        <p:nvSpPr>
          <p:cNvPr id="15" name="Text 13"/>
          <p:cNvSpPr/>
          <p:nvPr/>
        </p:nvSpPr>
        <p:spPr>
          <a:xfrm>
            <a:off x="8488680" y="1737360"/>
            <a:ext cx="594360" cy="59436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p:nvPr/>
        </p:nvSpPr>
        <p:spPr>
          <a:xfrm>
            <a:off x="8442960" y="2468880"/>
            <a:ext cx="2895600" cy="457200"/>
          </a:xfrm>
          <a:prstGeom prst="rect">
            <a:avLst/>
          </a:prstGeom>
          <a:noFill/>
          <a:ln/>
        </p:spPr>
        <p:txBody>
          <a:bodyPr wrap="square" rtlCol="0" anchor="ctr"/>
          <a:lstStyle/>
          <a:p>
            <a:pPr marL="0" indent="0">
              <a:buNone/>
            </a:pPr>
            <a:r>
              <a:rPr lang="en-US" sz="1700" b="1" dirty="0">
                <a:solidFill>
                  <a:srgbClr val="1B2733"/>
                </a:solidFill>
                <a:latin typeface="Cambria" pitchFamily="34" charset="0"/>
                <a:ea typeface="Cambria" pitchFamily="34" charset="-122"/>
                <a:cs typeface="Cambria" pitchFamily="34" charset="-120"/>
              </a:rPr>
              <a:t>Rigid Tools</a:t>
            </a:r>
            <a:endParaRPr lang="en-US" sz="1700" dirty="0"/>
          </a:p>
        </p:txBody>
      </p:sp>
      <p:sp>
        <p:nvSpPr>
          <p:cNvPr id="17" name="Text 15"/>
          <p:cNvSpPr/>
          <p:nvPr/>
        </p:nvSpPr>
        <p:spPr>
          <a:xfrm>
            <a:off x="8442960" y="2926080"/>
            <a:ext cx="2895600" cy="777240"/>
          </a:xfrm>
          <a:prstGeom prst="rect">
            <a:avLst/>
          </a:prstGeom>
          <a:noFill/>
          <a:ln/>
        </p:spPr>
        <p:txBody>
          <a:bodyPr wrap="square" rtlCol="0" anchor="ctr"/>
          <a:lstStyle/>
          <a:p>
            <a:pPr marL="0" indent="0">
              <a:lnSpc>
                <a:spcPct val="115000"/>
              </a:lnSpc>
              <a:buNone/>
            </a:pPr>
            <a:r>
              <a:rPr lang="en-US" sz="1200" dirty="0">
                <a:solidFill>
                  <a:srgbClr val="5B6B77"/>
                </a:solidFill>
                <a:latin typeface="Calibri" pitchFamily="34" charset="0"/>
                <a:ea typeface="Calibri" pitchFamily="34" charset="-122"/>
                <a:cs typeface="Calibri" pitchFamily="34" charset="-120"/>
              </a:rPr>
              <a:t>Many existing LMS platforms are inflexible, or lack real-time interactivity and verifiable outcomes.</a:t>
            </a:r>
            <a:endParaRPr lang="en-US" sz="1200" dirty="0"/>
          </a:p>
        </p:txBody>
      </p:sp>
      <p:sp>
        <p:nvSpPr>
          <p:cNvPr id="18" name="Shape 16"/>
          <p:cNvSpPr/>
          <p:nvPr/>
        </p:nvSpPr>
        <p:spPr>
          <a:xfrm>
            <a:off x="640080" y="4114800"/>
            <a:ext cx="10881360" cy="1965960"/>
          </a:xfrm>
          <a:prstGeom prst="roundRect">
            <a:avLst>
              <a:gd name="adj" fmla="val 4651"/>
            </a:avLst>
          </a:prstGeom>
          <a:solidFill>
            <a:srgbClr val="21295C"/>
          </a:solidFill>
          <a:ln/>
        </p:spPr>
        <p:txBody>
          <a:bodyPr/>
          <a:lstStyle/>
          <a:p>
            <a:endParaRPr lang="en-IN"/>
          </a:p>
        </p:txBody>
      </p:sp>
      <p:sp>
        <p:nvSpPr>
          <p:cNvPr id="19" name="Text 17"/>
          <p:cNvSpPr/>
          <p:nvPr/>
        </p:nvSpPr>
        <p:spPr>
          <a:xfrm>
            <a:off x="1005840" y="4343400"/>
            <a:ext cx="3657600" cy="320040"/>
          </a:xfrm>
          <a:prstGeom prst="rect">
            <a:avLst/>
          </a:prstGeom>
          <a:noFill/>
          <a:ln/>
        </p:spPr>
        <p:txBody>
          <a:bodyPr wrap="square" rtlCol="0" anchor="ctr"/>
          <a:lstStyle/>
          <a:p>
            <a:pPr marL="0" indent="0">
              <a:buNone/>
            </a:pPr>
            <a:r>
              <a:rPr lang="en-US" sz="1100" b="1" kern="0" spc="100" dirty="0">
                <a:solidFill>
                  <a:srgbClr val="9FC3E0"/>
                </a:solidFill>
                <a:latin typeface="Calibri" pitchFamily="34" charset="0"/>
                <a:ea typeface="Calibri" pitchFamily="34" charset="-122"/>
                <a:cs typeface="Calibri" pitchFamily="34" charset="-120"/>
              </a:rPr>
              <a:t>OUR OBJECTIVE</a:t>
            </a:r>
            <a:endParaRPr lang="en-US" sz="1100" dirty="0"/>
          </a:p>
        </p:txBody>
      </p:sp>
      <p:sp>
        <p:nvSpPr>
          <p:cNvPr id="20" name="Text 18"/>
          <p:cNvSpPr/>
          <p:nvPr/>
        </p:nvSpPr>
        <p:spPr>
          <a:xfrm>
            <a:off x="1005840" y="4709160"/>
            <a:ext cx="10149840" cy="1234440"/>
          </a:xfrm>
          <a:prstGeom prst="rect">
            <a:avLst/>
          </a:prstGeom>
          <a:noFill/>
          <a:ln/>
        </p:spPr>
        <p:txBody>
          <a:bodyPr wrap="square" rtlCol="0" anchor="ctr"/>
          <a:lstStyle/>
          <a:p>
            <a:pPr marL="0" indent="0">
              <a:lnSpc>
                <a:spcPct val="125000"/>
              </a:lnSpc>
              <a:buNone/>
            </a:pPr>
            <a:r>
              <a:rPr lang="en-US" sz="1800" i="1" dirty="0">
                <a:solidFill>
                  <a:srgbClr val="FFFFFF"/>
                </a:solidFill>
                <a:latin typeface="Cambria" pitchFamily="34" charset="0"/>
                <a:ea typeface="Cambria" pitchFamily="34" charset="-122"/>
                <a:cs typeface="Cambria" pitchFamily="34" charset="-120"/>
              </a:rPr>
              <a:t>Deliver a complete e-learning platform with course authoring, video streaming, assessments, and progress certification — so instructors can teach at scale and students can learn, verify, and grow at their own pace.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065A82"/>
          </a:solidFill>
          <a:ln/>
        </p:spPr>
        <p:txBody>
          <a:bodyPr/>
          <a:lstStyle/>
          <a:p>
            <a:endParaRPr lang="en-IN"/>
          </a:p>
        </p:txBody>
      </p:sp>
      <p:sp>
        <p:nvSpPr>
          <p:cNvPr id="3" name="Shape 1"/>
          <p:cNvSpPr/>
          <p:nvPr/>
        </p:nvSpPr>
        <p:spPr>
          <a:xfrm>
            <a:off x="-1097280" y="5120640"/>
            <a:ext cx="3657600" cy="3657600"/>
          </a:xfrm>
          <a:prstGeom prst="ellipse">
            <a:avLst/>
          </a:prstGeom>
          <a:solidFill>
            <a:srgbClr val="1C7293">
              <a:alpha val="45000"/>
            </a:srgbClr>
          </a:solidFill>
          <a:ln/>
        </p:spPr>
        <p:txBody>
          <a:bodyPr/>
          <a:lstStyle/>
          <a:p>
            <a:endParaRPr lang="en-IN"/>
          </a:p>
        </p:txBody>
      </p:sp>
      <p:sp>
        <p:nvSpPr>
          <p:cNvPr id="4" name="Text 2"/>
          <p:cNvSpPr/>
          <p:nvPr/>
        </p:nvSpPr>
        <p:spPr>
          <a:xfrm>
            <a:off x="502920" y="822960"/>
            <a:ext cx="3017520" cy="1554480"/>
          </a:xfrm>
          <a:prstGeom prst="rect">
            <a:avLst/>
          </a:prstGeom>
          <a:noFill/>
          <a:ln/>
        </p:spPr>
        <p:txBody>
          <a:bodyPr wrap="square" rtlCol="0" anchor="ctr"/>
          <a:lstStyle/>
          <a:p>
            <a:pPr marL="0" indent="0">
              <a:lnSpc>
                <a:spcPct val="105000"/>
              </a:lnSpc>
              <a:buNone/>
            </a:pPr>
            <a:r>
              <a:rPr lang="en-US" sz="3000" b="1" dirty="0">
                <a:solidFill>
                  <a:srgbClr val="FFFFFF"/>
                </a:solidFill>
                <a:latin typeface="Cambria" pitchFamily="34" charset="0"/>
                <a:ea typeface="Cambria" pitchFamily="34" charset="-122"/>
                <a:cs typeface="Cambria" pitchFamily="34" charset="-120"/>
              </a:rPr>
              <a:t>Proposed</a:t>
            </a:r>
            <a:endParaRPr lang="en-US" sz="3000" dirty="0"/>
          </a:p>
          <a:p>
            <a:pPr marL="0" indent="0">
              <a:lnSpc>
                <a:spcPct val="105000"/>
              </a:lnSpc>
              <a:buNone/>
            </a:pPr>
            <a:r>
              <a:rPr lang="en-US" sz="3000" b="1" dirty="0">
                <a:solidFill>
                  <a:srgbClr val="FFFFFF"/>
                </a:solidFill>
                <a:latin typeface="Cambria" pitchFamily="34" charset="0"/>
                <a:ea typeface="Cambria" pitchFamily="34" charset="-122"/>
                <a:cs typeface="Cambria" pitchFamily="34" charset="-120"/>
              </a:rPr>
              <a:t>Solution</a:t>
            </a:r>
            <a:endParaRPr lang="en-US" sz="3000" dirty="0"/>
          </a:p>
        </p:txBody>
      </p:sp>
      <p:sp>
        <p:nvSpPr>
          <p:cNvPr id="5" name="Text 3"/>
          <p:cNvSpPr/>
          <p:nvPr/>
        </p:nvSpPr>
        <p:spPr>
          <a:xfrm>
            <a:off x="502920" y="2468880"/>
            <a:ext cx="3017520" cy="1463040"/>
          </a:xfrm>
          <a:prstGeom prst="rect">
            <a:avLst/>
          </a:prstGeom>
          <a:noFill/>
          <a:ln/>
        </p:spPr>
        <p:txBody>
          <a:bodyPr wrap="square" rtlCol="0" anchor="ctr"/>
          <a:lstStyle/>
          <a:p>
            <a:pPr marL="0" indent="0">
              <a:lnSpc>
                <a:spcPct val="130000"/>
              </a:lnSpc>
              <a:buNone/>
            </a:pPr>
            <a:r>
              <a:rPr lang="en-US" sz="1300" i="1" dirty="0">
                <a:solidFill>
                  <a:srgbClr val="CADCFC"/>
                </a:solidFill>
                <a:latin typeface="Calibri" pitchFamily="34" charset="0"/>
                <a:ea typeface="Calibri" pitchFamily="34" charset="-122"/>
                <a:cs typeface="Calibri" pitchFamily="34" charset="-120"/>
              </a:rPr>
              <a:t>A unified platform connecting instructors and learners — from course creation to certified completion.</a:t>
            </a:r>
            <a:endParaRPr lang="en-US" sz="1300" dirty="0"/>
          </a:p>
        </p:txBody>
      </p:sp>
      <p:sp>
        <p:nvSpPr>
          <p:cNvPr id="6" name="Shape 4"/>
          <p:cNvSpPr/>
          <p:nvPr/>
        </p:nvSpPr>
        <p:spPr>
          <a:xfrm>
            <a:off x="4251960" y="914400"/>
            <a:ext cx="411480" cy="411480"/>
          </a:xfrm>
          <a:prstGeom prst="ellipse">
            <a:avLst/>
          </a:prstGeom>
          <a:solidFill>
            <a:srgbClr val="1C7293"/>
          </a:solidFill>
          <a:ln/>
        </p:spPr>
        <p:txBody>
          <a:bodyPr/>
          <a:lstStyle/>
          <a:p>
            <a:endParaRPr lang="en-IN"/>
          </a:p>
        </p:txBody>
      </p:sp>
      <p:sp>
        <p:nvSpPr>
          <p:cNvPr id="7" name="Text 5"/>
          <p:cNvSpPr/>
          <p:nvPr/>
        </p:nvSpPr>
        <p:spPr>
          <a:xfrm>
            <a:off x="4251960" y="914400"/>
            <a:ext cx="411480" cy="41148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4846320" y="868680"/>
            <a:ext cx="6583680" cy="365760"/>
          </a:xfrm>
          <a:prstGeom prst="rect">
            <a:avLst/>
          </a:prstGeom>
          <a:noFill/>
          <a:ln/>
        </p:spPr>
        <p:txBody>
          <a:bodyPr wrap="square" rtlCol="0" anchor="ctr"/>
          <a:lstStyle/>
          <a:p>
            <a:pPr marL="0" indent="0">
              <a:buNone/>
            </a:pPr>
            <a:r>
              <a:rPr lang="en-US" sz="1600" b="1" dirty="0">
                <a:solidFill>
                  <a:srgbClr val="1B2733"/>
                </a:solidFill>
                <a:latin typeface="Cambria" pitchFamily="34" charset="0"/>
                <a:ea typeface="Cambria" pitchFamily="34" charset="-122"/>
                <a:cs typeface="Cambria" pitchFamily="34" charset="-120"/>
              </a:rPr>
              <a:t>Course Authoring</a:t>
            </a:r>
            <a:endParaRPr lang="en-US" sz="1600" dirty="0"/>
          </a:p>
        </p:txBody>
      </p:sp>
      <p:sp>
        <p:nvSpPr>
          <p:cNvPr id="9" name="Text 7"/>
          <p:cNvSpPr/>
          <p:nvPr/>
        </p:nvSpPr>
        <p:spPr>
          <a:xfrm>
            <a:off x="4846320" y="1234440"/>
            <a:ext cx="6583680" cy="457200"/>
          </a:xfrm>
          <a:prstGeom prst="rect">
            <a:avLst/>
          </a:prstGeom>
          <a:noFill/>
          <a:ln/>
        </p:spPr>
        <p:txBody>
          <a:bodyPr wrap="square" rtlCol="0" anchor="ctr"/>
          <a:lstStyle/>
          <a:p>
            <a:pPr marL="0" indent="0">
              <a:buNone/>
            </a:pPr>
            <a:r>
              <a:rPr lang="en-US" sz="1250" dirty="0">
                <a:solidFill>
                  <a:srgbClr val="5B6B77"/>
                </a:solidFill>
                <a:latin typeface="Calibri" pitchFamily="34" charset="0"/>
                <a:ea typeface="Calibri" pitchFamily="34" charset="-122"/>
                <a:cs typeface="Calibri" pitchFamily="34" charset="-120"/>
              </a:rPr>
              <a:t>Instructors build and publish structured courses with ease.</a:t>
            </a:r>
            <a:endParaRPr lang="en-US" sz="1250" dirty="0"/>
          </a:p>
        </p:txBody>
      </p:sp>
      <p:sp>
        <p:nvSpPr>
          <p:cNvPr id="10" name="Shape 8"/>
          <p:cNvSpPr/>
          <p:nvPr/>
        </p:nvSpPr>
        <p:spPr>
          <a:xfrm>
            <a:off x="4251960" y="1874520"/>
            <a:ext cx="411480" cy="411480"/>
          </a:xfrm>
          <a:prstGeom prst="ellipse">
            <a:avLst/>
          </a:prstGeom>
          <a:solidFill>
            <a:srgbClr val="1C7293"/>
          </a:solidFill>
          <a:ln/>
        </p:spPr>
        <p:txBody>
          <a:bodyPr/>
          <a:lstStyle/>
          <a:p>
            <a:endParaRPr lang="en-IN"/>
          </a:p>
        </p:txBody>
      </p:sp>
      <p:sp>
        <p:nvSpPr>
          <p:cNvPr id="11" name="Text 9"/>
          <p:cNvSpPr/>
          <p:nvPr/>
        </p:nvSpPr>
        <p:spPr>
          <a:xfrm>
            <a:off x="4251960" y="1874520"/>
            <a:ext cx="411480" cy="41148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4846320" y="1828800"/>
            <a:ext cx="6583680" cy="365760"/>
          </a:xfrm>
          <a:prstGeom prst="rect">
            <a:avLst/>
          </a:prstGeom>
          <a:noFill/>
          <a:ln/>
        </p:spPr>
        <p:txBody>
          <a:bodyPr wrap="square" rtlCol="0" anchor="ctr"/>
          <a:lstStyle/>
          <a:p>
            <a:pPr marL="0" indent="0">
              <a:buNone/>
            </a:pPr>
            <a:r>
              <a:rPr lang="en-US" sz="1600" b="1" dirty="0">
                <a:solidFill>
                  <a:srgbClr val="1B2733"/>
                </a:solidFill>
                <a:latin typeface="Cambria" pitchFamily="34" charset="0"/>
                <a:ea typeface="Cambria" pitchFamily="34" charset="-122"/>
                <a:cs typeface="Cambria" pitchFamily="34" charset="-120"/>
              </a:rPr>
              <a:t>Video Lecture Streaming</a:t>
            </a:r>
            <a:endParaRPr lang="en-US" sz="1600" dirty="0"/>
          </a:p>
        </p:txBody>
      </p:sp>
      <p:sp>
        <p:nvSpPr>
          <p:cNvPr id="13" name="Text 11"/>
          <p:cNvSpPr/>
          <p:nvPr/>
        </p:nvSpPr>
        <p:spPr>
          <a:xfrm>
            <a:off x="4846320" y="2194560"/>
            <a:ext cx="6583680" cy="457200"/>
          </a:xfrm>
          <a:prstGeom prst="rect">
            <a:avLst/>
          </a:prstGeom>
          <a:noFill/>
          <a:ln/>
        </p:spPr>
        <p:txBody>
          <a:bodyPr wrap="square" rtlCol="0" anchor="ctr"/>
          <a:lstStyle/>
          <a:p>
            <a:pPr marL="0" indent="0">
              <a:buNone/>
            </a:pPr>
            <a:r>
              <a:rPr lang="en-US" sz="1250" dirty="0">
                <a:solidFill>
                  <a:srgbClr val="5B6B77"/>
                </a:solidFill>
                <a:latin typeface="Calibri" pitchFamily="34" charset="0"/>
                <a:ea typeface="Calibri" pitchFamily="34" charset="-122"/>
                <a:cs typeface="Calibri" pitchFamily="34" charset="-120"/>
              </a:rPr>
              <a:t>Reliable, scalable delivery of lecture content to every learner.</a:t>
            </a:r>
            <a:endParaRPr lang="en-US" sz="1250" dirty="0"/>
          </a:p>
        </p:txBody>
      </p:sp>
      <p:sp>
        <p:nvSpPr>
          <p:cNvPr id="14" name="Shape 12"/>
          <p:cNvSpPr/>
          <p:nvPr/>
        </p:nvSpPr>
        <p:spPr>
          <a:xfrm>
            <a:off x="4251960" y="2834640"/>
            <a:ext cx="411480" cy="411480"/>
          </a:xfrm>
          <a:prstGeom prst="ellipse">
            <a:avLst/>
          </a:prstGeom>
          <a:solidFill>
            <a:srgbClr val="1C7293"/>
          </a:solidFill>
          <a:ln/>
        </p:spPr>
        <p:txBody>
          <a:bodyPr/>
          <a:lstStyle/>
          <a:p>
            <a:endParaRPr lang="en-IN"/>
          </a:p>
        </p:txBody>
      </p:sp>
      <p:sp>
        <p:nvSpPr>
          <p:cNvPr id="15" name="Text 13"/>
          <p:cNvSpPr/>
          <p:nvPr/>
        </p:nvSpPr>
        <p:spPr>
          <a:xfrm>
            <a:off x="4251960" y="2834640"/>
            <a:ext cx="411480" cy="41148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p:nvPr/>
        </p:nvSpPr>
        <p:spPr>
          <a:xfrm>
            <a:off x="4846320" y="2788920"/>
            <a:ext cx="6583680" cy="365760"/>
          </a:xfrm>
          <a:prstGeom prst="rect">
            <a:avLst/>
          </a:prstGeom>
          <a:noFill/>
          <a:ln/>
        </p:spPr>
        <p:txBody>
          <a:bodyPr wrap="square" rtlCol="0" anchor="ctr"/>
          <a:lstStyle/>
          <a:p>
            <a:pPr marL="0" indent="0">
              <a:buNone/>
            </a:pPr>
            <a:r>
              <a:rPr lang="en-US" sz="1600" b="1" dirty="0">
                <a:solidFill>
                  <a:srgbClr val="1B2733"/>
                </a:solidFill>
                <a:latin typeface="Cambria" pitchFamily="34" charset="0"/>
                <a:ea typeface="Cambria" pitchFamily="34" charset="-122"/>
                <a:cs typeface="Cambria" pitchFamily="34" charset="-120"/>
              </a:rPr>
              <a:t>Assessments &amp; Progress</a:t>
            </a:r>
            <a:endParaRPr lang="en-US" sz="1600" dirty="0"/>
          </a:p>
        </p:txBody>
      </p:sp>
      <p:sp>
        <p:nvSpPr>
          <p:cNvPr id="17" name="Text 15"/>
          <p:cNvSpPr/>
          <p:nvPr/>
        </p:nvSpPr>
        <p:spPr>
          <a:xfrm>
            <a:off x="4846320" y="3154680"/>
            <a:ext cx="6583680" cy="457200"/>
          </a:xfrm>
          <a:prstGeom prst="rect">
            <a:avLst/>
          </a:prstGeom>
          <a:noFill/>
          <a:ln/>
        </p:spPr>
        <p:txBody>
          <a:bodyPr wrap="square" rtlCol="0" anchor="ctr"/>
          <a:lstStyle/>
          <a:p>
            <a:pPr marL="0" indent="0">
              <a:buNone/>
            </a:pPr>
            <a:r>
              <a:rPr lang="en-US" sz="1250" dirty="0">
                <a:solidFill>
                  <a:srgbClr val="5B6B77"/>
                </a:solidFill>
                <a:latin typeface="Calibri" pitchFamily="34" charset="0"/>
                <a:ea typeface="Calibri" pitchFamily="34" charset="-122"/>
                <a:cs typeface="Calibri" pitchFamily="34" charset="-120"/>
              </a:rPr>
              <a:t>Quizzes, assignments, and tracked progress toward certification.</a:t>
            </a:r>
            <a:endParaRPr lang="en-US" sz="1250" dirty="0"/>
          </a:p>
        </p:txBody>
      </p:sp>
      <p:sp>
        <p:nvSpPr>
          <p:cNvPr id="18" name="Shape 16"/>
          <p:cNvSpPr/>
          <p:nvPr/>
        </p:nvSpPr>
        <p:spPr>
          <a:xfrm>
            <a:off x="4251960" y="3977640"/>
            <a:ext cx="7223760" cy="2423160"/>
          </a:xfrm>
          <a:prstGeom prst="roundRect">
            <a:avLst>
              <a:gd name="adj" fmla="val 3019"/>
            </a:avLst>
          </a:prstGeom>
          <a:solidFill>
            <a:srgbClr val="F4F7F9"/>
          </a:solidFill>
          <a:ln/>
        </p:spPr>
        <p:txBody>
          <a:bodyPr/>
          <a:lstStyle/>
          <a:p>
            <a:endParaRPr lang="en-IN"/>
          </a:p>
        </p:txBody>
      </p:sp>
      <p:sp>
        <p:nvSpPr>
          <p:cNvPr id="19" name="Text 17"/>
          <p:cNvSpPr/>
          <p:nvPr/>
        </p:nvSpPr>
        <p:spPr>
          <a:xfrm>
            <a:off x="4526280" y="4160520"/>
            <a:ext cx="3657600" cy="274320"/>
          </a:xfrm>
          <a:prstGeom prst="rect">
            <a:avLst/>
          </a:prstGeom>
          <a:noFill/>
          <a:ln/>
        </p:spPr>
        <p:txBody>
          <a:bodyPr wrap="square" rtlCol="0" anchor="ctr"/>
          <a:lstStyle/>
          <a:p>
            <a:pPr marL="0" indent="0">
              <a:buNone/>
            </a:pPr>
            <a:r>
              <a:rPr lang="en-US" sz="1000" b="1" kern="0" spc="100" dirty="0">
                <a:solidFill>
                  <a:srgbClr val="065A82"/>
                </a:solidFill>
                <a:latin typeface="Calibri" pitchFamily="34" charset="0"/>
                <a:ea typeface="Calibri" pitchFamily="34" charset="-122"/>
                <a:cs typeface="Calibri" pitchFamily="34" charset="-120"/>
              </a:rPr>
              <a:t>WHY IT MATTERS</a:t>
            </a:r>
            <a:endParaRPr lang="en-US" sz="1000" dirty="0"/>
          </a:p>
        </p:txBody>
      </p:sp>
      <p:sp>
        <p:nvSpPr>
          <p:cNvPr id="20" name="Text 18"/>
          <p:cNvSpPr/>
          <p:nvPr/>
        </p:nvSpPr>
        <p:spPr>
          <a:xfrm>
            <a:off x="4526280" y="4480560"/>
            <a:ext cx="6675120" cy="1783080"/>
          </a:xfrm>
          <a:prstGeom prst="rect">
            <a:avLst/>
          </a:prstGeom>
          <a:noFill/>
          <a:ln/>
        </p:spPr>
        <p:txBody>
          <a:bodyPr wrap="square" rtlCol="0" anchor="ctr"/>
          <a:lstStyle/>
          <a:p>
            <a:pPr marL="0" indent="0">
              <a:lnSpc>
                <a:spcPct val="135000"/>
              </a:lnSpc>
              <a:buNone/>
            </a:pPr>
            <a:r>
              <a:rPr lang="en-US" sz="1300" dirty="0">
                <a:solidFill>
                  <a:srgbClr val="1B2733"/>
                </a:solidFill>
                <a:latin typeface="Calibri" pitchFamily="34" charset="0"/>
                <a:ea typeface="Calibri" pitchFamily="34" charset="-122"/>
                <a:cs typeface="Calibri" pitchFamily="34" charset="-120"/>
              </a:rPr>
              <a:t>By combining course authoring, streaming, assessment, and real-time interaction in one platform, the LMS gives instructors the tools to teach at scale, and gives students a flexible path to verifiable, certified outcomes — closing the gap left by rigid, disconnected tools.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640080" y="502920"/>
            <a:ext cx="9144000" cy="548640"/>
          </a:xfrm>
          <a:prstGeom prst="rect">
            <a:avLst/>
          </a:prstGeom>
          <a:noFill/>
          <a:ln/>
        </p:spPr>
        <p:txBody>
          <a:bodyPr wrap="square" rtlCol="0" anchor="ctr"/>
          <a:lstStyle/>
          <a:p>
            <a:pPr marL="0" indent="0">
              <a:buNone/>
            </a:pPr>
            <a:r>
              <a:rPr lang="en-US" sz="2800" b="1" dirty="0">
                <a:solidFill>
                  <a:srgbClr val="1B2733"/>
                </a:solidFill>
                <a:latin typeface="Cambria" pitchFamily="34" charset="0"/>
                <a:ea typeface="Cambria" pitchFamily="34" charset="-122"/>
                <a:cs typeface="Cambria" pitchFamily="34" charset="-120"/>
              </a:rPr>
              <a:t>Frameworks, Platforms &amp; Software</a:t>
            </a:r>
            <a:endParaRPr lang="en-US" sz="2800" dirty="0"/>
          </a:p>
        </p:txBody>
      </p:sp>
      <p:sp>
        <p:nvSpPr>
          <p:cNvPr id="3" name="Text 1"/>
          <p:cNvSpPr/>
          <p:nvPr/>
        </p:nvSpPr>
        <p:spPr>
          <a:xfrm>
            <a:off x="640080" y="1051560"/>
            <a:ext cx="9144000" cy="365760"/>
          </a:xfrm>
          <a:prstGeom prst="rect">
            <a:avLst/>
          </a:prstGeom>
          <a:noFill/>
          <a:ln/>
        </p:spPr>
        <p:txBody>
          <a:bodyPr wrap="square" rtlCol="0" anchor="ctr"/>
          <a:lstStyle/>
          <a:p>
            <a:pPr marL="0" indent="0">
              <a:buNone/>
            </a:pPr>
            <a:r>
              <a:rPr lang="en-US" sz="1300" i="1" dirty="0">
                <a:solidFill>
                  <a:srgbClr val="5B6B77"/>
                </a:solidFill>
                <a:latin typeface="Calibri" pitchFamily="34" charset="0"/>
                <a:ea typeface="Calibri" pitchFamily="34" charset="-122"/>
                <a:cs typeface="Calibri" pitchFamily="34" charset="-120"/>
              </a:rPr>
              <a:t>The technology stack powering the platform end to end.</a:t>
            </a:r>
            <a:endParaRPr lang="en-US" sz="1300" dirty="0"/>
          </a:p>
        </p:txBody>
      </p:sp>
      <p:sp>
        <p:nvSpPr>
          <p:cNvPr id="4" name="Shape 2"/>
          <p:cNvSpPr/>
          <p:nvPr/>
        </p:nvSpPr>
        <p:spPr>
          <a:xfrm>
            <a:off x="764896" y="1691640"/>
            <a:ext cx="2514600" cy="2148840"/>
          </a:xfrm>
          <a:prstGeom prst="roundRect">
            <a:avLst>
              <a:gd name="adj" fmla="val 3830"/>
            </a:avLst>
          </a:prstGeom>
          <a:solidFill>
            <a:srgbClr val="FFFFFF"/>
          </a:solidFill>
          <a:ln/>
          <a:effectLst>
            <a:outerShdw blurRad="76200" dist="25400" dir="5400000" algn="bl" rotWithShape="0">
              <a:srgbClr val="1B2733">
                <a:alpha val="12000"/>
              </a:srgbClr>
            </a:outerShdw>
          </a:effectLst>
        </p:spPr>
        <p:txBody>
          <a:bodyPr/>
          <a:lstStyle/>
          <a:p>
            <a:endParaRPr lang="en-IN"/>
          </a:p>
        </p:txBody>
      </p:sp>
      <p:sp>
        <p:nvSpPr>
          <p:cNvPr id="5" name="Shape 3"/>
          <p:cNvSpPr/>
          <p:nvPr/>
        </p:nvSpPr>
        <p:spPr>
          <a:xfrm>
            <a:off x="1610716" y="1965960"/>
            <a:ext cx="822960" cy="822960"/>
          </a:xfrm>
          <a:prstGeom prst="ellipse">
            <a:avLst/>
          </a:prstGeom>
          <a:solidFill>
            <a:srgbClr val="065A82"/>
          </a:solidFill>
          <a:ln/>
        </p:spPr>
        <p:txBody>
          <a:bodyPr/>
          <a:lstStyle/>
          <a:p>
            <a:endParaRPr lang="en-IN"/>
          </a:p>
        </p:txBody>
      </p:sp>
      <p:pic>
        <p:nvPicPr>
          <p:cNvPr id="6" name="Image 0" descr="icon_react.png"/>
          <p:cNvPicPr>
            <a:picLocks noChangeAspect="1"/>
          </p:cNvPicPr>
          <p:nvPr/>
        </p:nvPicPr>
        <p:blipFill>
          <a:blip r:embed="rId3"/>
          <a:stretch>
            <a:fillRect/>
          </a:stretch>
        </p:blipFill>
        <p:spPr>
          <a:xfrm>
            <a:off x="1775308" y="2130552"/>
            <a:ext cx="493776" cy="493776"/>
          </a:xfrm>
          <a:prstGeom prst="rect">
            <a:avLst/>
          </a:prstGeom>
        </p:spPr>
      </p:pic>
      <p:sp>
        <p:nvSpPr>
          <p:cNvPr id="7" name="Text 4"/>
          <p:cNvSpPr/>
          <p:nvPr/>
        </p:nvSpPr>
        <p:spPr>
          <a:xfrm>
            <a:off x="856336" y="2926080"/>
            <a:ext cx="2331720" cy="365760"/>
          </a:xfrm>
          <a:prstGeom prst="rect">
            <a:avLst/>
          </a:prstGeom>
          <a:noFill/>
          <a:ln/>
        </p:spPr>
        <p:txBody>
          <a:bodyPr wrap="square" rtlCol="0" anchor="ctr"/>
          <a:lstStyle/>
          <a:p>
            <a:pPr marL="0" indent="0" algn="ctr">
              <a:buNone/>
            </a:pPr>
            <a:r>
              <a:rPr lang="en-US" sz="1400" b="1" dirty="0">
                <a:solidFill>
                  <a:srgbClr val="1B2733"/>
                </a:solidFill>
                <a:latin typeface="Cambria" pitchFamily="34" charset="0"/>
                <a:ea typeface="Cambria" pitchFamily="34" charset="-122"/>
                <a:cs typeface="Cambria" pitchFamily="34" charset="-120"/>
              </a:rPr>
              <a:t>React.js</a:t>
            </a:r>
            <a:endParaRPr lang="en-US" sz="1400" dirty="0"/>
          </a:p>
        </p:txBody>
      </p:sp>
      <p:sp>
        <p:nvSpPr>
          <p:cNvPr id="8" name="Text 5"/>
          <p:cNvSpPr/>
          <p:nvPr/>
        </p:nvSpPr>
        <p:spPr>
          <a:xfrm>
            <a:off x="856336" y="3291840"/>
            <a:ext cx="2331720" cy="411480"/>
          </a:xfrm>
          <a:prstGeom prst="rect">
            <a:avLst/>
          </a:prstGeom>
          <a:noFill/>
          <a:ln/>
        </p:spPr>
        <p:txBody>
          <a:bodyPr wrap="square" rtlCol="0" anchor="ctr"/>
          <a:lstStyle/>
          <a:p>
            <a:pPr marL="0" indent="0" algn="ctr">
              <a:buNone/>
            </a:pPr>
            <a:r>
              <a:rPr lang="en-US" sz="1050" dirty="0">
                <a:solidFill>
                  <a:srgbClr val="5B6B77"/>
                </a:solidFill>
                <a:latin typeface="Calibri" pitchFamily="34" charset="0"/>
                <a:ea typeface="Calibri" pitchFamily="34" charset="-122"/>
                <a:cs typeface="Calibri" pitchFamily="34" charset="-120"/>
              </a:rPr>
              <a:t>Front-end UI</a:t>
            </a:r>
            <a:endParaRPr lang="en-US" sz="1050" dirty="0"/>
          </a:p>
        </p:txBody>
      </p:sp>
      <p:sp>
        <p:nvSpPr>
          <p:cNvPr id="9" name="Shape 6"/>
          <p:cNvSpPr/>
          <p:nvPr/>
        </p:nvSpPr>
        <p:spPr>
          <a:xfrm>
            <a:off x="3480664" y="1691640"/>
            <a:ext cx="2514600" cy="2148840"/>
          </a:xfrm>
          <a:prstGeom prst="roundRect">
            <a:avLst>
              <a:gd name="adj" fmla="val 3830"/>
            </a:avLst>
          </a:prstGeom>
          <a:solidFill>
            <a:srgbClr val="FFFFFF"/>
          </a:solidFill>
          <a:ln/>
          <a:effectLst>
            <a:outerShdw blurRad="76200" dist="25400" dir="5400000" algn="bl" rotWithShape="0">
              <a:srgbClr val="1B2733">
                <a:alpha val="12000"/>
              </a:srgbClr>
            </a:outerShdw>
          </a:effectLst>
        </p:spPr>
        <p:txBody>
          <a:bodyPr/>
          <a:lstStyle/>
          <a:p>
            <a:endParaRPr lang="en-IN"/>
          </a:p>
        </p:txBody>
      </p:sp>
      <p:sp>
        <p:nvSpPr>
          <p:cNvPr id="10" name="Shape 7"/>
          <p:cNvSpPr/>
          <p:nvPr/>
        </p:nvSpPr>
        <p:spPr>
          <a:xfrm>
            <a:off x="4326484" y="1965960"/>
            <a:ext cx="822960" cy="822960"/>
          </a:xfrm>
          <a:prstGeom prst="ellipse">
            <a:avLst/>
          </a:prstGeom>
          <a:solidFill>
            <a:srgbClr val="1C7293"/>
          </a:solidFill>
          <a:ln/>
        </p:spPr>
        <p:txBody>
          <a:bodyPr/>
          <a:lstStyle/>
          <a:p>
            <a:endParaRPr lang="en-IN"/>
          </a:p>
        </p:txBody>
      </p:sp>
      <p:pic>
        <p:nvPicPr>
          <p:cNvPr id="11" name="Image 1" descr="icon_node.png"/>
          <p:cNvPicPr>
            <a:picLocks noChangeAspect="1"/>
          </p:cNvPicPr>
          <p:nvPr/>
        </p:nvPicPr>
        <p:blipFill>
          <a:blip r:embed="rId4"/>
          <a:stretch>
            <a:fillRect/>
          </a:stretch>
        </p:blipFill>
        <p:spPr>
          <a:xfrm>
            <a:off x="4491076" y="2130552"/>
            <a:ext cx="493776" cy="493776"/>
          </a:xfrm>
          <a:prstGeom prst="rect">
            <a:avLst/>
          </a:prstGeom>
        </p:spPr>
      </p:pic>
      <p:sp>
        <p:nvSpPr>
          <p:cNvPr id="12" name="Text 8"/>
          <p:cNvSpPr/>
          <p:nvPr/>
        </p:nvSpPr>
        <p:spPr>
          <a:xfrm>
            <a:off x="3572104" y="2926080"/>
            <a:ext cx="2331720" cy="365760"/>
          </a:xfrm>
          <a:prstGeom prst="rect">
            <a:avLst/>
          </a:prstGeom>
          <a:noFill/>
          <a:ln/>
        </p:spPr>
        <p:txBody>
          <a:bodyPr wrap="square" rtlCol="0" anchor="ctr"/>
          <a:lstStyle/>
          <a:p>
            <a:pPr marL="0" indent="0" algn="ctr">
              <a:buNone/>
            </a:pPr>
            <a:r>
              <a:rPr lang="en-US" sz="1400" b="1" dirty="0">
                <a:solidFill>
                  <a:srgbClr val="1B2733"/>
                </a:solidFill>
                <a:latin typeface="Cambria" pitchFamily="34" charset="0"/>
                <a:ea typeface="Cambria" pitchFamily="34" charset="-122"/>
                <a:cs typeface="Cambria" pitchFamily="34" charset="-120"/>
              </a:rPr>
              <a:t>Node.js</a:t>
            </a:r>
            <a:endParaRPr lang="en-US" sz="1400" dirty="0"/>
          </a:p>
        </p:txBody>
      </p:sp>
      <p:sp>
        <p:nvSpPr>
          <p:cNvPr id="13" name="Text 9"/>
          <p:cNvSpPr/>
          <p:nvPr/>
        </p:nvSpPr>
        <p:spPr>
          <a:xfrm>
            <a:off x="3572104" y="3291840"/>
            <a:ext cx="2331720" cy="411480"/>
          </a:xfrm>
          <a:prstGeom prst="rect">
            <a:avLst/>
          </a:prstGeom>
          <a:noFill/>
          <a:ln/>
        </p:spPr>
        <p:txBody>
          <a:bodyPr wrap="square" rtlCol="0" anchor="ctr"/>
          <a:lstStyle/>
          <a:p>
            <a:pPr marL="0" indent="0" algn="ctr">
              <a:buNone/>
            </a:pPr>
            <a:r>
              <a:rPr lang="en-US" sz="1050" dirty="0">
                <a:solidFill>
                  <a:srgbClr val="5B6B77"/>
                </a:solidFill>
                <a:latin typeface="Calibri" pitchFamily="34" charset="0"/>
                <a:ea typeface="Calibri" pitchFamily="34" charset="-122"/>
                <a:cs typeface="Calibri" pitchFamily="34" charset="-120"/>
              </a:rPr>
              <a:t>Runtime</a:t>
            </a:r>
            <a:endParaRPr lang="en-US" sz="1050" dirty="0"/>
          </a:p>
        </p:txBody>
      </p:sp>
      <p:sp>
        <p:nvSpPr>
          <p:cNvPr id="14" name="Shape 10"/>
          <p:cNvSpPr/>
          <p:nvPr/>
        </p:nvSpPr>
        <p:spPr>
          <a:xfrm>
            <a:off x="6196432" y="1691640"/>
            <a:ext cx="2514600" cy="2148840"/>
          </a:xfrm>
          <a:prstGeom prst="roundRect">
            <a:avLst>
              <a:gd name="adj" fmla="val 3830"/>
            </a:avLst>
          </a:prstGeom>
          <a:solidFill>
            <a:srgbClr val="FFFFFF"/>
          </a:solidFill>
          <a:ln/>
          <a:effectLst>
            <a:outerShdw blurRad="76200" dist="25400" dir="5400000" algn="bl" rotWithShape="0">
              <a:srgbClr val="1B2733">
                <a:alpha val="12000"/>
              </a:srgbClr>
            </a:outerShdw>
          </a:effectLst>
        </p:spPr>
        <p:txBody>
          <a:bodyPr/>
          <a:lstStyle/>
          <a:p>
            <a:endParaRPr lang="en-IN"/>
          </a:p>
        </p:txBody>
      </p:sp>
      <p:sp>
        <p:nvSpPr>
          <p:cNvPr id="15" name="Shape 11"/>
          <p:cNvSpPr/>
          <p:nvPr/>
        </p:nvSpPr>
        <p:spPr>
          <a:xfrm>
            <a:off x="7042252" y="1965960"/>
            <a:ext cx="822960" cy="822960"/>
          </a:xfrm>
          <a:prstGeom prst="ellipse">
            <a:avLst/>
          </a:prstGeom>
          <a:solidFill>
            <a:srgbClr val="21295C"/>
          </a:solidFill>
          <a:ln/>
        </p:spPr>
        <p:txBody>
          <a:bodyPr/>
          <a:lstStyle/>
          <a:p>
            <a:endParaRPr lang="en-IN"/>
          </a:p>
        </p:txBody>
      </p:sp>
      <p:pic>
        <p:nvPicPr>
          <p:cNvPr id="16" name="Image 2" descr="icon_express.png"/>
          <p:cNvPicPr>
            <a:picLocks noChangeAspect="1"/>
          </p:cNvPicPr>
          <p:nvPr/>
        </p:nvPicPr>
        <p:blipFill>
          <a:blip r:embed="rId5"/>
          <a:stretch>
            <a:fillRect/>
          </a:stretch>
        </p:blipFill>
        <p:spPr>
          <a:xfrm>
            <a:off x="7206844" y="2130552"/>
            <a:ext cx="493776" cy="493776"/>
          </a:xfrm>
          <a:prstGeom prst="rect">
            <a:avLst/>
          </a:prstGeom>
        </p:spPr>
      </p:pic>
      <p:sp>
        <p:nvSpPr>
          <p:cNvPr id="17" name="Text 12"/>
          <p:cNvSpPr/>
          <p:nvPr/>
        </p:nvSpPr>
        <p:spPr>
          <a:xfrm>
            <a:off x="6287872" y="2926080"/>
            <a:ext cx="2331720" cy="365760"/>
          </a:xfrm>
          <a:prstGeom prst="rect">
            <a:avLst/>
          </a:prstGeom>
          <a:noFill/>
          <a:ln/>
        </p:spPr>
        <p:txBody>
          <a:bodyPr wrap="square" rtlCol="0" anchor="ctr"/>
          <a:lstStyle/>
          <a:p>
            <a:pPr marL="0" indent="0" algn="ctr">
              <a:buNone/>
            </a:pPr>
            <a:r>
              <a:rPr lang="en-US" sz="1400" b="1" dirty="0">
                <a:solidFill>
                  <a:srgbClr val="1B2733"/>
                </a:solidFill>
                <a:latin typeface="Cambria" pitchFamily="34" charset="0"/>
                <a:ea typeface="Cambria" pitchFamily="34" charset="-122"/>
                <a:cs typeface="Cambria" pitchFamily="34" charset="-120"/>
              </a:rPr>
              <a:t>Express.js</a:t>
            </a:r>
            <a:endParaRPr lang="en-US" sz="1400" dirty="0"/>
          </a:p>
        </p:txBody>
      </p:sp>
      <p:sp>
        <p:nvSpPr>
          <p:cNvPr id="18" name="Text 13"/>
          <p:cNvSpPr/>
          <p:nvPr/>
        </p:nvSpPr>
        <p:spPr>
          <a:xfrm>
            <a:off x="6287872" y="3291840"/>
            <a:ext cx="2331720" cy="411480"/>
          </a:xfrm>
          <a:prstGeom prst="rect">
            <a:avLst/>
          </a:prstGeom>
          <a:noFill/>
          <a:ln/>
        </p:spPr>
        <p:txBody>
          <a:bodyPr wrap="square" rtlCol="0" anchor="ctr"/>
          <a:lstStyle/>
          <a:p>
            <a:pPr marL="0" indent="0" algn="ctr">
              <a:buNone/>
            </a:pPr>
            <a:r>
              <a:rPr lang="en-US" sz="1050" dirty="0">
                <a:solidFill>
                  <a:srgbClr val="5B6B77"/>
                </a:solidFill>
                <a:latin typeface="Calibri" pitchFamily="34" charset="0"/>
                <a:ea typeface="Calibri" pitchFamily="34" charset="-122"/>
                <a:cs typeface="Calibri" pitchFamily="34" charset="-120"/>
              </a:rPr>
              <a:t>Back-end API</a:t>
            </a:r>
            <a:endParaRPr lang="en-US" sz="1050" dirty="0"/>
          </a:p>
        </p:txBody>
      </p:sp>
      <p:sp>
        <p:nvSpPr>
          <p:cNvPr id="19" name="Shape 14"/>
          <p:cNvSpPr/>
          <p:nvPr/>
        </p:nvSpPr>
        <p:spPr>
          <a:xfrm>
            <a:off x="8912200" y="1691640"/>
            <a:ext cx="2514600" cy="2148840"/>
          </a:xfrm>
          <a:prstGeom prst="roundRect">
            <a:avLst>
              <a:gd name="adj" fmla="val 3830"/>
            </a:avLst>
          </a:prstGeom>
          <a:solidFill>
            <a:srgbClr val="FFFFFF"/>
          </a:solidFill>
          <a:ln/>
          <a:effectLst>
            <a:outerShdw blurRad="76200" dist="25400" dir="5400000" algn="bl" rotWithShape="0">
              <a:srgbClr val="1B2733">
                <a:alpha val="12000"/>
              </a:srgbClr>
            </a:outerShdw>
          </a:effectLst>
        </p:spPr>
        <p:txBody>
          <a:bodyPr/>
          <a:lstStyle/>
          <a:p>
            <a:endParaRPr lang="en-IN"/>
          </a:p>
        </p:txBody>
      </p:sp>
      <p:sp>
        <p:nvSpPr>
          <p:cNvPr id="20" name="Shape 15"/>
          <p:cNvSpPr/>
          <p:nvPr/>
        </p:nvSpPr>
        <p:spPr>
          <a:xfrm>
            <a:off x="9758020" y="1965960"/>
            <a:ext cx="822960" cy="822960"/>
          </a:xfrm>
          <a:prstGeom prst="ellipse">
            <a:avLst/>
          </a:prstGeom>
          <a:solidFill>
            <a:srgbClr val="065A82"/>
          </a:solidFill>
          <a:ln/>
        </p:spPr>
        <p:txBody>
          <a:bodyPr/>
          <a:lstStyle/>
          <a:p>
            <a:endParaRPr lang="en-IN"/>
          </a:p>
        </p:txBody>
      </p:sp>
      <p:pic>
        <p:nvPicPr>
          <p:cNvPr id="21" name="Image 3" descr="icon_mysql.png"/>
          <p:cNvPicPr>
            <a:picLocks noChangeAspect="1"/>
          </p:cNvPicPr>
          <p:nvPr/>
        </p:nvPicPr>
        <p:blipFill>
          <a:blip r:embed="rId6"/>
          <a:stretch>
            <a:fillRect/>
          </a:stretch>
        </p:blipFill>
        <p:spPr>
          <a:xfrm>
            <a:off x="9922612" y="2130552"/>
            <a:ext cx="493776" cy="493776"/>
          </a:xfrm>
          <a:prstGeom prst="rect">
            <a:avLst/>
          </a:prstGeom>
        </p:spPr>
      </p:pic>
      <p:sp>
        <p:nvSpPr>
          <p:cNvPr id="22" name="Text 16"/>
          <p:cNvSpPr/>
          <p:nvPr/>
        </p:nvSpPr>
        <p:spPr>
          <a:xfrm>
            <a:off x="9003640" y="2926080"/>
            <a:ext cx="2331720" cy="365760"/>
          </a:xfrm>
          <a:prstGeom prst="rect">
            <a:avLst/>
          </a:prstGeom>
          <a:noFill/>
          <a:ln/>
        </p:spPr>
        <p:txBody>
          <a:bodyPr wrap="square" rtlCol="0" anchor="ctr"/>
          <a:lstStyle/>
          <a:p>
            <a:pPr marL="0" indent="0" algn="ctr">
              <a:buNone/>
            </a:pPr>
            <a:r>
              <a:rPr lang="en-US" sz="1400" b="1" dirty="0">
                <a:solidFill>
                  <a:srgbClr val="1B2733"/>
                </a:solidFill>
                <a:latin typeface="Cambria" pitchFamily="34" charset="0"/>
                <a:ea typeface="Cambria" pitchFamily="34" charset="-122"/>
                <a:cs typeface="Cambria" pitchFamily="34" charset="-120"/>
              </a:rPr>
              <a:t>MySQL</a:t>
            </a:r>
            <a:endParaRPr lang="en-US" sz="1400" dirty="0"/>
          </a:p>
        </p:txBody>
      </p:sp>
      <p:sp>
        <p:nvSpPr>
          <p:cNvPr id="23" name="Text 17"/>
          <p:cNvSpPr/>
          <p:nvPr/>
        </p:nvSpPr>
        <p:spPr>
          <a:xfrm>
            <a:off x="9003640" y="3291840"/>
            <a:ext cx="2331720" cy="411480"/>
          </a:xfrm>
          <a:prstGeom prst="rect">
            <a:avLst/>
          </a:prstGeom>
          <a:noFill/>
          <a:ln/>
        </p:spPr>
        <p:txBody>
          <a:bodyPr wrap="square" rtlCol="0" anchor="ctr"/>
          <a:lstStyle/>
          <a:p>
            <a:pPr marL="0" indent="0" algn="ctr">
              <a:buNone/>
            </a:pPr>
            <a:r>
              <a:rPr lang="en-US" sz="1050" dirty="0">
                <a:solidFill>
                  <a:srgbClr val="5B6B77"/>
                </a:solidFill>
                <a:latin typeface="Calibri" pitchFamily="34" charset="0"/>
                <a:ea typeface="Calibri" pitchFamily="34" charset="-122"/>
                <a:cs typeface="Calibri" pitchFamily="34" charset="-120"/>
              </a:rPr>
              <a:t>Database</a:t>
            </a:r>
            <a:endParaRPr lang="en-US" sz="1050" dirty="0"/>
          </a:p>
        </p:txBody>
      </p:sp>
      <p:sp>
        <p:nvSpPr>
          <p:cNvPr id="24" name="Shape 18"/>
          <p:cNvSpPr/>
          <p:nvPr/>
        </p:nvSpPr>
        <p:spPr>
          <a:xfrm>
            <a:off x="764896" y="4114800"/>
            <a:ext cx="2514600" cy="2148840"/>
          </a:xfrm>
          <a:prstGeom prst="roundRect">
            <a:avLst>
              <a:gd name="adj" fmla="val 3830"/>
            </a:avLst>
          </a:prstGeom>
          <a:solidFill>
            <a:srgbClr val="FFFFFF"/>
          </a:solidFill>
          <a:ln/>
          <a:effectLst>
            <a:outerShdw blurRad="76200" dist="25400" dir="5400000" algn="bl" rotWithShape="0">
              <a:srgbClr val="1B2733">
                <a:alpha val="12000"/>
              </a:srgbClr>
            </a:outerShdw>
          </a:effectLst>
        </p:spPr>
        <p:txBody>
          <a:bodyPr/>
          <a:lstStyle/>
          <a:p>
            <a:endParaRPr lang="en-IN"/>
          </a:p>
        </p:txBody>
      </p:sp>
      <p:sp>
        <p:nvSpPr>
          <p:cNvPr id="25" name="Shape 19"/>
          <p:cNvSpPr/>
          <p:nvPr/>
        </p:nvSpPr>
        <p:spPr>
          <a:xfrm>
            <a:off x="1610716" y="4389120"/>
            <a:ext cx="822960" cy="822960"/>
          </a:xfrm>
          <a:prstGeom prst="ellipse">
            <a:avLst/>
          </a:prstGeom>
          <a:solidFill>
            <a:srgbClr val="1C7293"/>
          </a:solidFill>
          <a:ln/>
        </p:spPr>
        <p:txBody>
          <a:bodyPr/>
          <a:lstStyle/>
          <a:p>
            <a:endParaRPr lang="en-IN"/>
          </a:p>
        </p:txBody>
      </p:sp>
      <p:pic>
        <p:nvPicPr>
          <p:cNvPr id="26" name="Image 4" descr="icon_jwt.png"/>
          <p:cNvPicPr>
            <a:picLocks noChangeAspect="1"/>
          </p:cNvPicPr>
          <p:nvPr/>
        </p:nvPicPr>
        <p:blipFill>
          <a:blip r:embed="rId7"/>
          <a:stretch>
            <a:fillRect/>
          </a:stretch>
        </p:blipFill>
        <p:spPr>
          <a:xfrm>
            <a:off x="1775308" y="4553712"/>
            <a:ext cx="493776" cy="493776"/>
          </a:xfrm>
          <a:prstGeom prst="rect">
            <a:avLst/>
          </a:prstGeom>
        </p:spPr>
      </p:pic>
      <p:sp>
        <p:nvSpPr>
          <p:cNvPr id="27" name="Text 20"/>
          <p:cNvSpPr/>
          <p:nvPr/>
        </p:nvSpPr>
        <p:spPr>
          <a:xfrm>
            <a:off x="856336" y="5349240"/>
            <a:ext cx="2331720" cy="365760"/>
          </a:xfrm>
          <a:prstGeom prst="rect">
            <a:avLst/>
          </a:prstGeom>
          <a:noFill/>
          <a:ln/>
        </p:spPr>
        <p:txBody>
          <a:bodyPr wrap="square" rtlCol="0" anchor="ctr"/>
          <a:lstStyle/>
          <a:p>
            <a:pPr marL="0" indent="0" algn="ctr">
              <a:buNone/>
            </a:pPr>
            <a:r>
              <a:rPr lang="en-US" sz="1400" b="1" dirty="0">
                <a:solidFill>
                  <a:srgbClr val="1B2733"/>
                </a:solidFill>
                <a:latin typeface="Cambria" pitchFamily="34" charset="0"/>
                <a:ea typeface="Cambria" pitchFamily="34" charset="-122"/>
                <a:cs typeface="Cambria" pitchFamily="34" charset="-120"/>
              </a:rPr>
              <a:t>JWT</a:t>
            </a:r>
            <a:endParaRPr lang="en-US" sz="1400" dirty="0"/>
          </a:p>
        </p:txBody>
      </p:sp>
      <p:sp>
        <p:nvSpPr>
          <p:cNvPr id="28" name="Text 21"/>
          <p:cNvSpPr/>
          <p:nvPr/>
        </p:nvSpPr>
        <p:spPr>
          <a:xfrm>
            <a:off x="856336" y="5715000"/>
            <a:ext cx="2331720" cy="411480"/>
          </a:xfrm>
          <a:prstGeom prst="rect">
            <a:avLst/>
          </a:prstGeom>
          <a:noFill/>
          <a:ln/>
        </p:spPr>
        <p:txBody>
          <a:bodyPr wrap="square" rtlCol="0" anchor="ctr"/>
          <a:lstStyle/>
          <a:p>
            <a:pPr marL="0" indent="0" algn="ctr">
              <a:buNone/>
            </a:pPr>
            <a:r>
              <a:rPr lang="en-US" sz="1050" dirty="0">
                <a:solidFill>
                  <a:srgbClr val="5B6B77"/>
                </a:solidFill>
                <a:latin typeface="Calibri" pitchFamily="34" charset="0"/>
                <a:ea typeface="Calibri" pitchFamily="34" charset="-122"/>
                <a:cs typeface="Calibri" pitchFamily="34" charset="-120"/>
              </a:rPr>
              <a:t>Authentication</a:t>
            </a:r>
            <a:endParaRPr lang="en-US" sz="1050" dirty="0"/>
          </a:p>
        </p:txBody>
      </p:sp>
      <p:sp>
        <p:nvSpPr>
          <p:cNvPr id="29" name="Shape 22"/>
          <p:cNvSpPr/>
          <p:nvPr/>
        </p:nvSpPr>
        <p:spPr>
          <a:xfrm>
            <a:off x="3480664" y="4114800"/>
            <a:ext cx="2514600" cy="2148840"/>
          </a:xfrm>
          <a:prstGeom prst="roundRect">
            <a:avLst>
              <a:gd name="adj" fmla="val 3830"/>
            </a:avLst>
          </a:prstGeom>
          <a:solidFill>
            <a:srgbClr val="FFFFFF"/>
          </a:solidFill>
          <a:ln/>
          <a:effectLst>
            <a:outerShdw blurRad="76200" dist="25400" dir="5400000" algn="bl" rotWithShape="0">
              <a:srgbClr val="1B2733">
                <a:alpha val="12000"/>
              </a:srgbClr>
            </a:outerShdw>
          </a:effectLst>
        </p:spPr>
        <p:txBody>
          <a:bodyPr/>
          <a:lstStyle/>
          <a:p>
            <a:endParaRPr lang="en-IN"/>
          </a:p>
        </p:txBody>
      </p:sp>
      <p:sp>
        <p:nvSpPr>
          <p:cNvPr id="30" name="Shape 23"/>
          <p:cNvSpPr/>
          <p:nvPr/>
        </p:nvSpPr>
        <p:spPr>
          <a:xfrm>
            <a:off x="4326484" y="4389120"/>
            <a:ext cx="822960" cy="822960"/>
          </a:xfrm>
          <a:prstGeom prst="ellipse">
            <a:avLst/>
          </a:prstGeom>
          <a:solidFill>
            <a:srgbClr val="21295C"/>
          </a:solidFill>
          <a:ln/>
        </p:spPr>
        <p:txBody>
          <a:bodyPr/>
          <a:lstStyle/>
          <a:p>
            <a:endParaRPr lang="en-IN"/>
          </a:p>
        </p:txBody>
      </p:sp>
      <p:pic>
        <p:nvPicPr>
          <p:cNvPr id="31" name="Image 5" descr="icon_aws.png"/>
          <p:cNvPicPr>
            <a:picLocks noChangeAspect="1"/>
          </p:cNvPicPr>
          <p:nvPr/>
        </p:nvPicPr>
        <p:blipFill>
          <a:blip r:embed="rId8"/>
          <a:stretch>
            <a:fillRect/>
          </a:stretch>
        </p:blipFill>
        <p:spPr>
          <a:xfrm>
            <a:off x="4491076" y="4553712"/>
            <a:ext cx="493776" cy="493776"/>
          </a:xfrm>
          <a:prstGeom prst="rect">
            <a:avLst/>
          </a:prstGeom>
        </p:spPr>
      </p:pic>
      <p:sp>
        <p:nvSpPr>
          <p:cNvPr id="32" name="Text 24"/>
          <p:cNvSpPr/>
          <p:nvPr/>
        </p:nvSpPr>
        <p:spPr>
          <a:xfrm>
            <a:off x="3572104" y="5349240"/>
            <a:ext cx="2331720" cy="365760"/>
          </a:xfrm>
          <a:prstGeom prst="rect">
            <a:avLst/>
          </a:prstGeom>
          <a:noFill/>
          <a:ln/>
        </p:spPr>
        <p:txBody>
          <a:bodyPr wrap="square" rtlCol="0" anchor="ctr"/>
          <a:lstStyle/>
          <a:p>
            <a:pPr marL="0" indent="0" algn="ctr">
              <a:buNone/>
            </a:pPr>
            <a:r>
              <a:rPr lang="en-US" sz="1400" b="1" dirty="0">
                <a:solidFill>
                  <a:srgbClr val="1B2733"/>
                </a:solidFill>
                <a:latin typeface="Cambria" pitchFamily="34" charset="0"/>
                <a:ea typeface="Cambria" pitchFamily="34" charset="-122"/>
                <a:cs typeface="Cambria" pitchFamily="34" charset="-120"/>
              </a:rPr>
              <a:t>AWS S3</a:t>
            </a:r>
            <a:endParaRPr lang="en-US" sz="1400" dirty="0"/>
          </a:p>
        </p:txBody>
      </p:sp>
      <p:sp>
        <p:nvSpPr>
          <p:cNvPr id="33" name="Text 25"/>
          <p:cNvSpPr/>
          <p:nvPr/>
        </p:nvSpPr>
        <p:spPr>
          <a:xfrm>
            <a:off x="3572104" y="5715000"/>
            <a:ext cx="2331720" cy="411480"/>
          </a:xfrm>
          <a:prstGeom prst="rect">
            <a:avLst/>
          </a:prstGeom>
          <a:noFill/>
          <a:ln/>
        </p:spPr>
        <p:txBody>
          <a:bodyPr wrap="square" rtlCol="0" anchor="ctr"/>
          <a:lstStyle/>
          <a:p>
            <a:pPr marL="0" indent="0" algn="ctr">
              <a:buNone/>
            </a:pPr>
            <a:r>
              <a:rPr lang="en-US" sz="1050" dirty="0">
                <a:solidFill>
                  <a:srgbClr val="5B6B77"/>
                </a:solidFill>
                <a:latin typeface="Calibri" pitchFamily="34" charset="0"/>
                <a:ea typeface="Calibri" pitchFamily="34" charset="-122"/>
                <a:cs typeface="Calibri" pitchFamily="34" charset="-120"/>
              </a:rPr>
              <a:t>Video storage</a:t>
            </a:r>
            <a:endParaRPr lang="en-US" sz="1050" dirty="0"/>
          </a:p>
        </p:txBody>
      </p:sp>
      <p:sp>
        <p:nvSpPr>
          <p:cNvPr id="34" name="Shape 26"/>
          <p:cNvSpPr/>
          <p:nvPr/>
        </p:nvSpPr>
        <p:spPr>
          <a:xfrm>
            <a:off x="6196432" y="4114800"/>
            <a:ext cx="2514600" cy="2148840"/>
          </a:xfrm>
          <a:prstGeom prst="roundRect">
            <a:avLst>
              <a:gd name="adj" fmla="val 3830"/>
            </a:avLst>
          </a:prstGeom>
          <a:solidFill>
            <a:srgbClr val="FFFFFF"/>
          </a:solidFill>
          <a:ln/>
          <a:effectLst>
            <a:outerShdw blurRad="76200" dist="25400" dir="5400000" algn="bl" rotWithShape="0">
              <a:srgbClr val="1B2733">
                <a:alpha val="12000"/>
              </a:srgbClr>
            </a:outerShdw>
          </a:effectLst>
        </p:spPr>
        <p:txBody>
          <a:bodyPr/>
          <a:lstStyle/>
          <a:p>
            <a:endParaRPr lang="en-IN"/>
          </a:p>
        </p:txBody>
      </p:sp>
      <p:sp>
        <p:nvSpPr>
          <p:cNvPr id="35" name="Shape 27"/>
          <p:cNvSpPr/>
          <p:nvPr/>
        </p:nvSpPr>
        <p:spPr>
          <a:xfrm>
            <a:off x="7042252" y="4389120"/>
            <a:ext cx="822960" cy="822960"/>
          </a:xfrm>
          <a:prstGeom prst="ellipse">
            <a:avLst/>
          </a:prstGeom>
          <a:solidFill>
            <a:srgbClr val="065A82"/>
          </a:solidFill>
          <a:ln/>
        </p:spPr>
        <p:txBody>
          <a:bodyPr/>
          <a:lstStyle/>
          <a:p>
            <a:endParaRPr lang="en-IN"/>
          </a:p>
        </p:txBody>
      </p:sp>
      <p:pic>
        <p:nvPicPr>
          <p:cNvPr id="36" name="Image 6" descr="icon_socketio.png"/>
          <p:cNvPicPr>
            <a:picLocks noChangeAspect="1"/>
          </p:cNvPicPr>
          <p:nvPr/>
        </p:nvPicPr>
        <p:blipFill>
          <a:blip r:embed="rId9"/>
          <a:stretch>
            <a:fillRect/>
          </a:stretch>
        </p:blipFill>
        <p:spPr>
          <a:xfrm>
            <a:off x="7206844" y="4553712"/>
            <a:ext cx="493776" cy="493776"/>
          </a:xfrm>
          <a:prstGeom prst="rect">
            <a:avLst/>
          </a:prstGeom>
        </p:spPr>
      </p:pic>
      <p:sp>
        <p:nvSpPr>
          <p:cNvPr id="37" name="Text 28"/>
          <p:cNvSpPr/>
          <p:nvPr/>
        </p:nvSpPr>
        <p:spPr>
          <a:xfrm>
            <a:off x="6287872" y="5349240"/>
            <a:ext cx="2331720" cy="365760"/>
          </a:xfrm>
          <a:prstGeom prst="rect">
            <a:avLst/>
          </a:prstGeom>
          <a:noFill/>
          <a:ln/>
        </p:spPr>
        <p:txBody>
          <a:bodyPr wrap="square" rtlCol="0" anchor="ctr"/>
          <a:lstStyle/>
          <a:p>
            <a:pPr marL="0" indent="0" algn="ctr">
              <a:buNone/>
            </a:pPr>
            <a:r>
              <a:rPr lang="en-US" sz="1400" b="1" dirty="0">
                <a:solidFill>
                  <a:srgbClr val="1B2733"/>
                </a:solidFill>
                <a:latin typeface="Cambria" pitchFamily="34" charset="0"/>
                <a:ea typeface="Cambria" pitchFamily="34" charset="-122"/>
                <a:cs typeface="Cambria" pitchFamily="34" charset="-120"/>
              </a:rPr>
              <a:t>Socket.io</a:t>
            </a:r>
            <a:endParaRPr lang="en-US" sz="1400" dirty="0"/>
          </a:p>
        </p:txBody>
      </p:sp>
      <p:sp>
        <p:nvSpPr>
          <p:cNvPr id="38" name="Text 29"/>
          <p:cNvSpPr/>
          <p:nvPr/>
        </p:nvSpPr>
        <p:spPr>
          <a:xfrm>
            <a:off x="6287872" y="5715000"/>
            <a:ext cx="2331720" cy="411480"/>
          </a:xfrm>
          <a:prstGeom prst="rect">
            <a:avLst/>
          </a:prstGeom>
          <a:noFill/>
          <a:ln/>
        </p:spPr>
        <p:txBody>
          <a:bodyPr wrap="square" rtlCol="0" anchor="ctr"/>
          <a:lstStyle/>
          <a:p>
            <a:pPr marL="0" indent="0" algn="ctr">
              <a:buNone/>
            </a:pPr>
            <a:r>
              <a:rPr lang="en-US" sz="1050" dirty="0">
                <a:solidFill>
                  <a:srgbClr val="5B6B77"/>
                </a:solidFill>
                <a:latin typeface="Calibri" pitchFamily="34" charset="0"/>
                <a:ea typeface="Calibri" pitchFamily="34" charset="-122"/>
                <a:cs typeface="Calibri" pitchFamily="34" charset="-120"/>
              </a:rPr>
              <a:t>Real-time comms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Core Modules</a:t>
            </a:r>
            <a:endParaRPr lang="en-US" sz="3000" dirty="0"/>
          </a:p>
        </p:txBody>
      </p:sp>
      <p:sp>
        <p:nvSpPr>
          <p:cNvPr id="3" name="Text 1"/>
          <p:cNvSpPr/>
          <p:nvPr/>
        </p:nvSpPr>
        <p:spPr>
          <a:xfrm>
            <a:off x="640080" y="1051560"/>
            <a:ext cx="7315200" cy="365760"/>
          </a:xfrm>
          <a:prstGeom prst="rect">
            <a:avLst/>
          </a:prstGeom>
          <a:noFill/>
          <a:ln/>
        </p:spPr>
        <p:txBody>
          <a:bodyPr wrap="square" rtlCol="0" anchor="ctr"/>
          <a:lstStyle/>
          <a:p>
            <a:pPr marL="0" indent="0">
              <a:buNone/>
            </a:pPr>
            <a:r>
              <a:rPr lang="en-US" sz="1300" i="1" dirty="0">
                <a:solidFill>
                  <a:srgbClr val="A9C6DE"/>
                </a:solidFill>
                <a:latin typeface="Calibri" pitchFamily="34" charset="0"/>
                <a:ea typeface="Calibri" pitchFamily="34" charset="-122"/>
                <a:cs typeface="Calibri" pitchFamily="34" charset="-120"/>
              </a:rPr>
              <a:t>Seven modules covering the full learning lifecycle.</a:t>
            </a:r>
            <a:endParaRPr lang="en-US" sz="1300" dirty="0"/>
          </a:p>
        </p:txBody>
      </p:sp>
      <p:sp>
        <p:nvSpPr>
          <p:cNvPr id="4" name="Shape 2"/>
          <p:cNvSpPr/>
          <p:nvPr/>
        </p:nvSpPr>
        <p:spPr>
          <a:xfrm>
            <a:off x="609448" y="1988820"/>
            <a:ext cx="2606040" cy="1874520"/>
          </a:xfrm>
          <a:prstGeom prst="roundRect">
            <a:avLst>
              <a:gd name="adj" fmla="val 4390"/>
            </a:avLst>
          </a:prstGeom>
          <a:solidFill>
            <a:srgbClr val="065A82">
              <a:alpha val="85000"/>
            </a:srgbClr>
          </a:solidFill>
          <a:ln/>
        </p:spPr>
        <p:txBody>
          <a:bodyPr/>
          <a:lstStyle/>
          <a:p>
            <a:endParaRPr lang="en-IN"/>
          </a:p>
        </p:txBody>
      </p:sp>
      <p:sp>
        <p:nvSpPr>
          <p:cNvPr id="5" name="Shape 3"/>
          <p:cNvSpPr/>
          <p:nvPr/>
        </p:nvSpPr>
        <p:spPr>
          <a:xfrm>
            <a:off x="810616" y="2189988"/>
            <a:ext cx="548640" cy="548640"/>
          </a:xfrm>
          <a:prstGeom prst="ellipse">
            <a:avLst/>
          </a:prstGeom>
          <a:solidFill>
            <a:srgbClr val="1C7293"/>
          </a:solidFill>
          <a:ln/>
        </p:spPr>
        <p:txBody>
          <a:bodyPr/>
          <a:lstStyle/>
          <a:p>
            <a:endParaRPr lang="en-IN"/>
          </a:p>
        </p:txBody>
      </p:sp>
      <p:pic>
        <p:nvPicPr>
          <p:cNvPr id="6" name="Image 0" descr="icon_users.png"/>
          <p:cNvPicPr>
            <a:picLocks noChangeAspect="1"/>
          </p:cNvPicPr>
          <p:nvPr/>
        </p:nvPicPr>
        <p:blipFill>
          <a:blip r:embed="rId3"/>
          <a:stretch>
            <a:fillRect/>
          </a:stretch>
        </p:blipFill>
        <p:spPr>
          <a:xfrm>
            <a:off x="929488" y="2308860"/>
            <a:ext cx="310896" cy="310896"/>
          </a:xfrm>
          <a:prstGeom prst="rect">
            <a:avLst/>
          </a:prstGeom>
        </p:spPr>
      </p:pic>
      <p:sp>
        <p:nvSpPr>
          <p:cNvPr id="7" name="Text 4"/>
          <p:cNvSpPr/>
          <p:nvPr/>
        </p:nvSpPr>
        <p:spPr>
          <a:xfrm>
            <a:off x="792328" y="2857500"/>
            <a:ext cx="2240280" cy="731520"/>
          </a:xfrm>
          <a:prstGeom prst="rect">
            <a:avLst/>
          </a:prstGeom>
          <a:noFill/>
          <a:ln/>
        </p:spPr>
        <p:txBody>
          <a:bodyPr wrap="square" rtlCol="0" anchor="ctr"/>
          <a:lstStyle/>
          <a:p>
            <a:pPr marL="0" indent="0">
              <a:lnSpc>
                <a:spcPct val="110000"/>
              </a:lnSpc>
              <a:buNone/>
            </a:pPr>
            <a:r>
              <a:rPr lang="en-US" sz="1250" b="1" dirty="0">
                <a:solidFill>
                  <a:srgbClr val="FFFFFF"/>
                </a:solidFill>
                <a:latin typeface="Calibri" pitchFamily="34" charset="0"/>
                <a:ea typeface="Calibri" pitchFamily="34" charset="-122"/>
                <a:cs typeface="Calibri" pitchFamily="34" charset="-120"/>
              </a:rPr>
              <a:t>User &amp; Role Management</a:t>
            </a:r>
            <a:endParaRPr lang="en-US" sz="1250" dirty="0"/>
          </a:p>
        </p:txBody>
      </p:sp>
      <p:sp>
        <p:nvSpPr>
          <p:cNvPr id="8" name="Shape 5"/>
          <p:cNvSpPr/>
          <p:nvPr/>
        </p:nvSpPr>
        <p:spPr>
          <a:xfrm>
            <a:off x="3398368" y="1988820"/>
            <a:ext cx="2606040" cy="1874520"/>
          </a:xfrm>
          <a:prstGeom prst="roundRect">
            <a:avLst>
              <a:gd name="adj" fmla="val 4390"/>
            </a:avLst>
          </a:prstGeom>
          <a:solidFill>
            <a:srgbClr val="065A82">
              <a:alpha val="85000"/>
            </a:srgbClr>
          </a:solidFill>
          <a:ln/>
        </p:spPr>
        <p:txBody>
          <a:bodyPr/>
          <a:lstStyle/>
          <a:p>
            <a:endParaRPr lang="en-IN"/>
          </a:p>
        </p:txBody>
      </p:sp>
      <p:sp>
        <p:nvSpPr>
          <p:cNvPr id="9" name="Shape 6"/>
          <p:cNvSpPr/>
          <p:nvPr/>
        </p:nvSpPr>
        <p:spPr>
          <a:xfrm>
            <a:off x="3599536" y="2189988"/>
            <a:ext cx="548640" cy="548640"/>
          </a:xfrm>
          <a:prstGeom prst="ellipse">
            <a:avLst/>
          </a:prstGeom>
          <a:solidFill>
            <a:srgbClr val="1C7293"/>
          </a:solidFill>
          <a:ln/>
        </p:spPr>
        <p:txBody>
          <a:bodyPr/>
          <a:lstStyle/>
          <a:p>
            <a:endParaRPr lang="en-IN"/>
          </a:p>
        </p:txBody>
      </p:sp>
      <p:pic>
        <p:nvPicPr>
          <p:cNvPr id="10" name="Image 1" descr="icon_course.png"/>
          <p:cNvPicPr>
            <a:picLocks noChangeAspect="1"/>
          </p:cNvPicPr>
          <p:nvPr/>
        </p:nvPicPr>
        <p:blipFill>
          <a:blip r:embed="rId4"/>
          <a:stretch>
            <a:fillRect/>
          </a:stretch>
        </p:blipFill>
        <p:spPr>
          <a:xfrm>
            <a:off x="3718408" y="2308860"/>
            <a:ext cx="310896" cy="310896"/>
          </a:xfrm>
          <a:prstGeom prst="rect">
            <a:avLst/>
          </a:prstGeom>
        </p:spPr>
      </p:pic>
      <p:sp>
        <p:nvSpPr>
          <p:cNvPr id="11" name="Text 7"/>
          <p:cNvSpPr/>
          <p:nvPr/>
        </p:nvSpPr>
        <p:spPr>
          <a:xfrm>
            <a:off x="3581248" y="2857500"/>
            <a:ext cx="2240280" cy="731520"/>
          </a:xfrm>
          <a:prstGeom prst="rect">
            <a:avLst/>
          </a:prstGeom>
          <a:noFill/>
          <a:ln/>
        </p:spPr>
        <p:txBody>
          <a:bodyPr wrap="square" rtlCol="0" anchor="ctr"/>
          <a:lstStyle/>
          <a:p>
            <a:pPr marL="0" indent="0">
              <a:lnSpc>
                <a:spcPct val="110000"/>
              </a:lnSpc>
              <a:buNone/>
            </a:pPr>
            <a:r>
              <a:rPr lang="en-US" sz="1250" b="1" dirty="0">
                <a:solidFill>
                  <a:srgbClr val="FFFFFF"/>
                </a:solidFill>
                <a:latin typeface="Calibri" pitchFamily="34" charset="0"/>
                <a:ea typeface="Calibri" pitchFamily="34" charset="-122"/>
                <a:cs typeface="Calibri" pitchFamily="34" charset="-120"/>
              </a:rPr>
              <a:t>Course Builder</a:t>
            </a:r>
            <a:endParaRPr lang="en-US" sz="1250" dirty="0"/>
          </a:p>
        </p:txBody>
      </p:sp>
      <p:sp>
        <p:nvSpPr>
          <p:cNvPr id="12" name="Shape 8"/>
          <p:cNvSpPr/>
          <p:nvPr/>
        </p:nvSpPr>
        <p:spPr>
          <a:xfrm>
            <a:off x="6187288" y="1988820"/>
            <a:ext cx="2606040" cy="1874520"/>
          </a:xfrm>
          <a:prstGeom prst="roundRect">
            <a:avLst>
              <a:gd name="adj" fmla="val 4390"/>
            </a:avLst>
          </a:prstGeom>
          <a:solidFill>
            <a:srgbClr val="065A82">
              <a:alpha val="85000"/>
            </a:srgbClr>
          </a:solidFill>
          <a:ln/>
        </p:spPr>
        <p:txBody>
          <a:bodyPr/>
          <a:lstStyle/>
          <a:p>
            <a:endParaRPr lang="en-IN"/>
          </a:p>
        </p:txBody>
      </p:sp>
      <p:sp>
        <p:nvSpPr>
          <p:cNvPr id="13" name="Shape 9"/>
          <p:cNvSpPr/>
          <p:nvPr/>
        </p:nvSpPr>
        <p:spPr>
          <a:xfrm>
            <a:off x="6388456" y="2189988"/>
            <a:ext cx="548640" cy="548640"/>
          </a:xfrm>
          <a:prstGeom prst="ellipse">
            <a:avLst/>
          </a:prstGeom>
          <a:solidFill>
            <a:srgbClr val="1C7293"/>
          </a:solidFill>
          <a:ln/>
        </p:spPr>
        <p:txBody>
          <a:bodyPr/>
          <a:lstStyle/>
          <a:p>
            <a:endParaRPr lang="en-IN"/>
          </a:p>
        </p:txBody>
      </p:sp>
      <p:pic>
        <p:nvPicPr>
          <p:cNvPr id="14" name="Image 2" descr="icon_video.png"/>
          <p:cNvPicPr>
            <a:picLocks noChangeAspect="1"/>
          </p:cNvPicPr>
          <p:nvPr/>
        </p:nvPicPr>
        <p:blipFill>
          <a:blip r:embed="rId5"/>
          <a:stretch>
            <a:fillRect/>
          </a:stretch>
        </p:blipFill>
        <p:spPr>
          <a:xfrm>
            <a:off x="6507328" y="2308860"/>
            <a:ext cx="310896" cy="310896"/>
          </a:xfrm>
          <a:prstGeom prst="rect">
            <a:avLst/>
          </a:prstGeom>
        </p:spPr>
      </p:pic>
      <p:sp>
        <p:nvSpPr>
          <p:cNvPr id="15" name="Text 10"/>
          <p:cNvSpPr/>
          <p:nvPr/>
        </p:nvSpPr>
        <p:spPr>
          <a:xfrm>
            <a:off x="6370168" y="2857500"/>
            <a:ext cx="2240280" cy="731520"/>
          </a:xfrm>
          <a:prstGeom prst="rect">
            <a:avLst/>
          </a:prstGeom>
          <a:noFill/>
          <a:ln/>
        </p:spPr>
        <p:txBody>
          <a:bodyPr wrap="square" rtlCol="0" anchor="ctr"/>
          <a:lstStyle/>
          <a:p>
            <a:pPr marL="0" indent="0">
              <a:lnSpc>
                <a:spcPct val="110000"/>
              </a:lnSpc>
              <a:buNone/>
            </a:pPr>
            <a:r>
              <a:rPr lang="en-US" sz="1250" b="1" dirty="0">
                <a:solidFill>
                  <a:srgbClr val="FFFFFF"/>
                </a:solidFill>
                <a:latin typeface="Calibri" pitchFamily="34" charset="0"/>
                <a:ea typeface="Calibri" pitchFamily="34" charset="-122"/>
                <a:cs typeface="Calibri" pitchFamily="34" charset="-120"/>
              </a:rPr>
              <a:t>Video Lecture Streaming</a:t>
            </a:r>
            <a:endParaRPr lang="en-US" sz="1250" dirty="0"/>
          </a:p>
        </p:txBody>
      </p:sp>
      <p:sp>
        <p:nvSpPr>
          <p:cNvPr id="16" name="Shape 11"/>
          <p:cNvSpPr/>
          <p:nvPr/>
        </p:nvSpPr>
        <p:spPr>
          <a:xfrm>
            <a:off x="8976208" y="1988820"/>
            <a:ext cx="2606040" cy="1874520"/>
          </a:xfrm>
          <a:prstGeom prst="roundRect">
            <a:avLst>
              <a:gd name="adj" fmla="val 4390"/>
            </a:avLst>
          </a:prstGeom>
          <a:solidFill>
            <a:srgbClr val="065A82">
              <a:alpha val="85000"/>
            </a:srgbClr>
          </a:solidFill>
          <a:ln/>
        </p:spPr>
        <p:txBody>
          <a:bodyPr/>
          <a:lstStyle/>
          <a:p>
            <a:endParaRPr lang="en-IN"/>
          </a:p>
        </p:txBody>
      </p:sp>
      <p:sp>
        <p:nvSpPr>
          <p:cNvPr id="17" name="Shape 12"/>
          <p:cNvSpPr/>
          <p:nvPr/>
        </p:nvSpPr>
        <p:spPr>
          <a:xfrm>
            <a:off x="9177376" y="2189988"/>
            <a:ext cx="548640" cy="548640"/>
          </a:xfrm>
          <a:prstGeom prst="ellipse">
            <a:avLst/>
          </a:prstGeom>
          <a:solidFill>
            <a:srgbClr val="1C7293"/>
          </a:solidFill>
          <a:ln/>
        </p:spPr>
        <p:txBody>
          <a:bodyPr/>
          <a:lstStyle/>
          <a:p>
            <a:endParaRPr lang="en-IN"/>
          </a:p>
        </p:txBody>
      </p:sp>
      <p:pic>
        <p:nvPicPr>
          <p:cNvPr id="18" name="Image 3" descr="icon_quiz.png"/>
          <p:cNvPicPr>
            <a:picLocks noChangeAspect="1"/>
          </p:cNvPicPr>
          <p:nvPr/>
        </p:nvPicPr>
        <p:blipFill>
          <a:blip r:embed="rId6"/>
          <a:stretch>
            <a:fillRect/>
          </a:stretch>
        </p:blipFill>
        <p:spPr>
          <a:xfrm>
            <a:off x="9296248" y="2308860"/>
            <a:ext cx="310896" cy="310896"/>
          </a:xfrm>
          <a:prstGeom prst="rect">
            <a:avLst/>
          </a:prstGeom>
        </p:spPr>
      </p:pic>
      <p:sp>
        <p:nvSpPr>
          <p:cNvPr id="19" name="Text 13"/>
          <p:cNvSpPr/>
          <p:nvPr/>
        </p:nvSpPr>
        <p:spPr>
          <a:xfrm>
            <a:off x="9159088" y="2857500"/>
            <a:ext cx="2240280" cy="731520"/>
          </a:xfrm>
          <a:prstGeom prst="rect">
            <a:avLst/>
          </a:prstGeom>
          <a:noFill/>
          <a:ln/>
        </p:spPr>
        <p:txBody>
          <a:bodyPr wrap="square" rtlCol="0" anchor="ctr"/>
          <a:lstStyle/>
          <a:p>
            <a:pPr marL="0" indent="0">
              <a:lnSpc>
                <a:spcPct val="110000"/>
              </a:lnSpc>
              <a:buNone/>
            </a:pPr>
            <a:r>
              <a:rPr lang="en-US" sz="1250" b="1" dirty="0">
                <a:solidFill>
                  <a:srgbClr val="FFFFFF"/>
                </a:solidFill>
                <a:latin typeface="Calibri" pitchFamily="34" charset="0"/>
                <a:ea typeface="Calibri" pitchFamily="34" charset="-122"/>
                <a:cs typeface="Calibri" pitchFamily="34" charset="-120"/>
              </a:rPr>
              <a:t>Quiz &amp; Assignment Engine</a:t>
            </a:r>
            <a:endParaRPr lang="en-US" sz="1250" dirty="0"/>
          </a:p>
        </p:txBody>
      </p:sp>
      <p:sp>
        <p:nvSpPr>
          <p:cNvPr id="20" name="Shape 14"/>
          <p:cNvSpPr/>
          <p:nvPr/>
        </p:nvSpPr>
        <p:spPr>
          <a:xfrm>
            <a:off x="609448" y="4137660"/>
            <a:ext cx="2606040" cy="1874520"/>
          </a:xfrm>
          <a:prstGeom prst="roundRect">
            <a:avLst>
              <a:gd name="adj" fmla="val 4390"/>
            </a:avLst>
          </a:prstGeom>
          <a:solidFill>
            <a:srgbClr val="065A82">
              <a:alpha val="85000"/>
            </a:srgbClr>
          </a:solidFill>
          <a:ln/>
        </p:spPr>
        <p:txBody>
          <a:bodyPr/>
          <a:lstStyle/>
          <a:p>
            <a:endParaRPr lang="en-IN"/>
          </a:p>
        </p:txBody>
      </p:sp>
      <p:sp>
        <p:nvSpPr>
          <p:cNvPr id="21" name="Shape 15"/>
          <p:cNvSpPr/>
          <p:nvPr/>
        </p:nvSpPr>
        <p:spPr>
          <a:xfrm>
            <a:off x="810616" y="4338828"/>
            <a:ext cx="548640" cy="548640"/>
          </a:xfrm>
          <a:prstGeom prst="ellipse">
            <a:avLst/>
          </a:prstGeom>
          <a:solidFill>
            <a:srgbClr val="1C7293"/>
          </a:solidFill>
          <a:ln/>
        </p:spPr>
        <p:txBody>
          <a:bodyPr/>
          <a:lstStyle/>
          <a:p>
            <a:endParaRPr lang="en-IN"/>
          </a:p>
        </p:txBody>
      </p:sp>
      <p:pic>
        <p:nvPicPr>
          <p:cNvPr id="22" name="Image 4" descr="icon_cert.png"/>
          <p:cNvPicPr>
            <a:picLocks noChangeAspect="1"/>
          </p:cNvPicPr>
          <p:nvPr/>
        </p:nvPicPr>
        <p:blipFill>
          <a:blip r:embed="rId7"/>
          <a:stretch>
            <a:fillRect/>
          </a:stretch>
        </p:blipFill>
        <p:spPr>
          <a:xfrm>
            <a:off x="929488" y="4457700"/>
            <a:ext cx="310896" cy="310896"/>
          </a:xfrm>
          <a:prstGeom prst="rect">
            <a:avLst/>
          </a:prstGeom>
        </p:spPr>
      </p:pic>
      <p:sp>
        <p:nvSpPr>
          <p:cNvPr id="23" name="Text 16"/>
          <p:cNvSpPr/>
          <p:nvPr/>
        </p:nvSpPr>
        <p:spPr>
          <a:xfrm>
            <a:off x="792328" y="5006340"/>
            <a:ext cx="2240280" cy="731520"/>
          </a:xfrm>
          <a:prstGeom prst="rect">
            <a:avLst/>
          </a:prstGeom>
          <a:noFill/>
          <a:ln/>
        </p:spPr>
        <p:txBody>
          <a:bodyPr wrap="square" rtlCol="0" anchor="ctr"/>
          <a:lstStyle/>
          <a:p>
            <a:pPr marL="0" indent="0">
              <a:lnSpc>
                <a:spcPct val="110000"/>
              </a:lnSpc>
              <a:buNone/>
            </a:pPr>
            <a:r>
              <a:rPr lang="en-US" sz="1250" b="1" dirty="0">
                <a:solidFill>
                  <a:srgbClr val="FFFFFF"/>
                </a:solidFill>
                <a:latin typeface="Calibri" pitchFamily="34" charset="0"/>
                <a:ea typeface="Calibri" pitchFamily="34" charset="-122"/>
                <a:cs typeface="Calibri" pitchFamily="34" charset="-120"/>
              </a:rPr>
              <a:t>Progress Tracking &amp; Certificates</a:t>
            </a:r>
            <a:endParaRPr lang="en-US" sz="1250" dirty="0"/>
          </a:p>
        </p:txBody>
      </p:sp>
      <p:sp>
        <p:nvSpPr>
          <p:cNvPr id="24" name="Shape 17"/>
          <p:cNvSpPr/>
          <p:nvPr/>
        </p:nvSpPr>
        <p:spPr>
          <a:xfrm>
            <a:off x="3398368" y="4137660"/>
            <a:ext cx="2606040" cy="1874520"/>
          </a:xfrm>
          <a:prstGeom prst="roundRect">
            <a:avLst>
              <a:gd name="adj" fmla="val 4390"/>
            </a:avLst>
          </a:prstGeom>
          <a:solidFill>
            <a:srgbClr val="065A82">
              <a:alpha val="85000"/>
            </a:srgbClr>
          </a:solidFill>
          <a:ln/>
        </p:spPr>
        <p:txBody>
          <a:bodyPr/>
          <a:lstStyle/>
          <a:p>
            <a:endParaRPr lang="en-IN"/>
          </a:p>
        </p:txBody>
      </p:sp>
      <p:sp>
        <p:nvSpPr>
          <p:cNvPr id="25" name="Shape 18"/>
          <p:cNvSpPr/>
          <p:nvPr/>
        </p:nvSpPr>
        <p:spPr>
          <a:xfrm>
            <a:off x="3599536" y="4338828"/>
            <a:ext cx="548640" cy="548640"/>
          </a:xfrm>
          <a:prstGeom prst="ellipse">
            <a:avLst/>
          </a:prstGeom>
          <a:solidFill>
            <a:srgbClr val="1C7293"/>
          </a:solidFill>
          <a:ln/>
        </p:spPr>
        <p:txBody>
          <a:bodyPr/>
          <a:lstStyle/>
          <a:p>
            <a:endParaRPr lang="en-IN"/>
          </a:p>
        </p:txBody>
      </p:sp>
      <p:pic>
        <p:nvPicPr>
          <p:cNvPr id="26" name="Image 5" descr="icon_forum.png"/>
          <p:cNvPicPr>
            <a:picLocks noChangeAspect="1"/>
          </p:cNvPicPr>
          <p:nvPr/>
        </p:nvPicPr>
        <p:blipFill>
          <a:blip r:embed="rId8"/>
          <a:stretch>
            <a:fillRect/>
          </a:stretch>
        </p:blipFill>
        <p:spPr>
          <a:xfrm>
            <a:off x="3718408" y="4457700"/>
            <a:ext cx="310896" cy="310896"/>
          </a:xfrm>
          <a:prstGeom prst="rect">
            <a:avLst/>
          </a:prstGeom>
        </p:spPr>
      </p:pic>
      <p:sp>
        <p:nvSpPr>
          <p:cNvPr id="27" name="Text 19"/>
          <p:cNvSpPr/>
          <p:nvPr/>
        </p:nvSpPr>
        <p:spPr>
          <a:xfrm>
            <a:off x="3581248" y="5006340"/>
            <a:ext cx="2240280" cy="731520"/>
          </a:xfrm>
          <a:prstGeom prst="rect">
            <a:avLst/>
          </a:prstGeom>
          <a:noFill/>
          <a:ln/>
        </p:spPr>
        <p:txBody>
          <a:bodyPr wrap="square" rtlCol="0" anchor="ctr"/>
          <a:lstStyle/>
          <a:p>
            <a:pPr marL="0" indent="0">
              <a:lnSpc>
                <a:spcPct val="110000"/>
              </a:lnSpc>
              <a:buNone/>
            </a:pPr>
            <a:r>
              <a:rPr lang="en-US" sz="1250" b="1" dirty="0">
                <a:solidFill>
                  <a:srgbClr val="FFFFFF"/>
                </a:solidFill>
                <a:latin typeface="Calibri" pitchFamily="34" charset="0"/>
                <a:ea typeface="Calibri" pitchFamily="34" charset="-122"/>
                <a:cs typeface="Calibri" pitchFamily="34" charset="-120"/>
              </a:rPr>
              <a:t>Discussion Forum</a:t>
            </a:r>
            <a:endParaRPr lang="en-US" sz="1250" dirty="0"/>
          </a:p>
        </p:txBody>
      </p:sp>
      <p:sp>
        <p:nvSpPr>
          <p:cNvPr id="28" name="Shape 20"/>
          <p:cNvSpPr/>
          <p:nvPr/>
        </p:nvSpPr>
        <p:spPr>
          <a:xfrm>
            <a:off x="6187288" y="4137660"/>
            <a:ext cx="2606040" cy="1874520"/>
          </a:xfrm>
          <a:prstGeom prst="roundRect">
            <a:avLst>
              <a:gd name="adj" fmla="val 4390"/>
            </a:avLst>
          </a:prstGeom>
          <a:solidFill>
            <a:srgbClr val="065A82">
              <a:alpha val="85000"/>
            </a:srgbClr>
          </a:solidFill>
          <a:ln/>
        </p:spPr>
        <p:txBody>
          <a:bodyPr/>
          <a:lstStyle/>
          <a:p>
            <a:endParaRPr lang="en-IN"/>
          </a:p>
        </p:txBody>
      </p:sp>
      <p:sp>
        <p:nvSpPr>
          <p:cNvPr id="29" name="Shape 21"/>
          <p:cNvSpPr/>
          <p:nvPr/>
        </p:nvSpPr>
        <p:spPr>
          <a:xfrm>
            <a:off x="6388456" y="4338828"/>
            <a:ext cx="548640" cy="548640"/>
          </a:xfrm>
          <a:prstGeom prst="ellipse">
            <a:avLst/>
          </a:prstGeom>
          <a:solidFill>
            <a:srgbClr val="1C7293"/>
          </a:solidFill>
          <a:ln/>
        </p:spPr>
        <p:txBody>
          <a:bodyPr/>
          <a:lstStyle/>
          <a:p>
            <a:endParaRPr lang="en-IN"/>
          </a:p>
        </p:txBody>
      </p:sp>
      <p:pic>
        <p:nvPicPr>
          <p:cNvPr id="30" name="Image 6" descr="icon_analytics.png"/>
          <p:cNvPicPr>
            <a:picLocks noChangeAspect="1"/>
          </p:cNvPicPr>
          <p:nvPr/>
        </p:nvPicPr>
        <p:blipFill>
          <a:blip r:embed="rId9"/>
          <a:stretch>
            <a:fillRect/>
          </a:stretch>
        </p:blipFill>
        <p:spPr>
          <a:xfrm>
            <a:off x="6507328" y="4457700"/>
            <a:ext cx="310896" cy="310896"/>
          </a:xfrm>
          <a:prstGeom prst="rect">
            <a:avLst/>
          </a:prstGeom>
        </p:spPr>
      </p:pic>
      <p:sp>
        <p:nvSpPr>
          <p:cNvPr id="31" name="Text 22"/>
          <p:cNvSpPr/>
          <p:nvPr/>
        </p:nvSpPr>
        <p:spPr>
          <a:xfrm>
            <a:off x="6370168" y="5006340"/>
            <a:ext cx="2240280" cy="731520"/>
          </a:xfrm>
          <a:prstGeom prst="rect">
            <a:avLst/>
          </a:prstGeom>
          <a:noFill/>
          <a:ln/>
        </p:spPr>
        <p:txBody>
          <a:bodyPr wrap="square" rtlCol="0" anchor="ctr"/>
          <a:lstStyle/>
          <a:p>
            <a:pPr marL="0" indent="0">
              <a:lnSpc>
                <a:spcPct val="110000"/>
              </a:lnSpc>
              <a:buNone/>
            </a:pPr>
            <a:r>
              <a:rPr lang="en-US" sz="1250" b="1" dirty="0">
                <a:solidFill>
                  <a:srgbClr val="FFFFFF"/>
                </a:solidFill>
                <a:latin typeface="Calibri" pitchFamily="34" charset="0"/>
                <a:ea typeface="Calibri" pitchFamily="34" charset="-122"/>
                <a:cs typeface="Calibri" pitchFamily="34" charset="-120"/>
              </a:rPr>
              <a:t>Admin Analytics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548640"/>
          </a:xfrm>
          <a:prstGeom prst="rect">
            <a:avLst/>
          </a:prstGeom>
          <a:noFill/>
          <a:ln/>
        </p:spPr>
        <p:txBody>
          <a:bodyPr wrap="square" rtlCol="0" anchor="ctr"/>
          <a:lstStyle/>
          <a:p>
            <a:pPr marL="0" indent="0">
              <a:buNone/>
            </a:pPr>
            <a:r>
              <a:rPr lang="en-US" sz="3000" b="1" dirty="0">
                <a:solidFill>
                  <a:srgbClr val="1B2733"/>
                </a:solidFill>
                <a:latin typeface="Cambria" pitchFamily="34" charset="0"/>
                <a:ea typeface="Cambria" pitchFamily="34" charset="-122"/>
                <a:cs typeface="Cambria" pitchFamily="34" charset="-120"/>
              </a:rPr>
              <a:t>Team Details</a:t>
            </a:r>
            <a:endParaRPr lang="en-US" sz="3000" dirty="0"/>
          </a:p>
        </p:txBody>
      </p:sp>
      <p:sp>
        <p:nvSpPr>
          <p:cNvPr id="3" name="Shape 1"/>
          <p:cNvSpPr/>
          <p:nvPr/>
        </p:nvSpPr>
        <p:spPr>
          <a:xfrm>
            <a:off x="9875520" y="-731520"/>
            <a:ext cx="2926080" cy="2926080"/>
          </a:xfrm>
          <a:prstGeom prst="ellipse">
            <a:avLst/>
          </a:prstGeom>
          <a:solidFill>
            <a:srgbClr val="1C7293">
              <a:alpha val="25000"/>
            </a:srgbClr>
          </a:solidFill>
          <a:ln/>
        </p:spPr>
        <p:txBody>
          <a:bodyPr/>
          <a:lstStyle/>
          <a:p>
            <a:endParaRPr lang="en-IN"/>
          </a:p>
        </p:txBody>
      </p:sp>
      <p:sp>
        <p:nvSpPr>
          <p:cNvPr id="4" name="Shape 2"/>
          <p:cNvSpPr/>
          <p:nvPr/>
        </p:nvSpPr>
        <p:spPr>
          <a:xfrm>
            <a:off x="640080" y="1371600"/>
            <a:ext cx="3108960" cy="1005840"/>
          </a:xfrm>
          <a:prstGeom prst="roundRect">
            <a:avLst>
              <a:gd name="adj" fmla="val 7273"/>
            </a:avLst>
          </a:prstGeom>
          <a:solidFill>
            <a:srgbClr val="F4F7F9"/>
          </a:solidFill>
          <a:ln/>
        </p:spPr>
        <p:txBody>
          <a:bodyPr/>
          <a:lstStyle/>
          <a:p>
            <a:endParaRPr lang="en-IN"/>
          </a:p>
        </p:txBody>
      </p:sp>
      <p:sp>
        <p:nvSpPr>
          <p:cNvPr id="5" name="Text 3"/>
          <p:cNvSpPr/>
          <p:nvPr/>
        </p:nvSpPr>
        <p:spPr>
          <a:xfrm>
            <a:off x="868680" y="1508760"/>
            <a:ext cx="2743200" cy="274320"/>
          </a:xfrm>
          <a:prstGeom prst="rect">
            <a:avLst/>
          </a:prstGeom>
          <a:noFill/>
          <a:ln/>
        </p:spPr>
        <p:txBody>
          <a:bodyPr wrap="square" rtlCol="0" anchor="ctr"/>
          <a:lstStyle/>
          <a:p>
            <a:pPr marL="0" indent="0">
              <a:buNone/>
            </a:pPr>
            <a:r>
              <a:rPr lang="en-US" sz="1000" b="1" kern="0" spc="100" dirty="0">
                <a:solidFill>
                  <a:srgbClr val="065A82"/>
                </a:solidFill>
                <a:latin typeface="Calibri" pitchFamily="34" charset="0"/>
                <a:ea typeface="Calibri" pitchFamily="34" charset="-122"/>
                <a:cs typeface="Calibri" pitchFamily="34" charset="-120"/>
              </a:rPr>
              <a:t>SEC NO.</a:t>
            </a:r>
            <a:endParaRPr lang="en-US" sz="1000" dirty="0"/>
          </a:p>
        </p:txBody>
      </p:sp>
      <p:sp>
        <p:nvSpPr>
          <p:cNvPr id="6" name="Text 4"/>
          <p:cNvSpPr/>
          <p:nvPr/>
        </p:nvSpPr>
        <p:spPr>
          <a:xfrm>
            <a:off x="868680" y="1755648"/>
            <a:ext cx="2743200" cy="502920"/>
          </a:xfrm>
          <a:prstGeom prst="rect">
            <a:avLst/>
          </a:prstGeom>
          <a:noFill/>
          <a:ln/>
        </p:spPr>
        <p:txBody>
          <a:bodyPr wrap="square" rtlCol="0" anchor="ctr"/>
          <a:lstStyle/>
          <a:p>
            <a:pPr marL="0" indent="0">
              <a:buNone/>
            </a:pPr>
            <a:r>
              <a:rPr lang="en-US" sz="2600" b="1" dirty="0">
                <a:solidFill>
                  <a:srgbClr val="1B2733"/>
                </a:solidFill>
                <a:latin typeface="Cambria" pitchFamily="34" charset="0"/>
                <a:ea typeface="Cambria" pitchFamily="34" charset="-122"/>
                <a:cs typeface="Cambria" pitchFamily="34" charset="-120"/>
              </a:rPr>
              <a:t>10</a:t>
            </a:r>
            <a:endParaRPr lang="en-US" sz="2600" dirty="0"/>
          </a:p>
        </p:txBody>
      </p:sp>
      <p:sp>
        <p:nvSpPr>
          <p:cNvPr id="7" name="Shape 5"/>
          <p:cNvSpPr/>
          <p:nvPr/>
        </p:nvSpPr>
        <p:spPr>
          <a:xfrm>
            <a:off x="3931920" y="1371600"/>
            <a:ext cx="3108960" cy="1005840"/>
          </a:xfrm>
          <a:prstGeom prst="roundRect">
            <a:avLst>
              <a:gd name="adj" fmla="val 7273"/>
            </a:avLst>
          </a:prstGeom>
          <a:solidFill>
            <a:srgbClr val="F4F7F9"/>
          </a:solidFill>
          <a:ln/>
        </p:spPr>
        <p:txBody>
          <a:bodyPr/>
          <a:lstStyle/>
          <a:p>
            <a:endParaRPr lang="en-IN"/>
          </a:p>
        </p:txBody>
      </p:sp>
      <p:sp>
        <p:nvSpPr>
          <p:cNvPr id="8" name="Text 6"/>
          <p:cNvSpPr/>
          <p:nvPr/>
        </p:nvSpPr>
        <p:spPr>
          <a:xfrm>
            <a:off x="4160520" y="1508760"/>
            <a:ext cx="2743200" cy="274320"/>
          </a:xfrm>
          <a:prstGeom prst="rect">
            <a:avLst/>
          </a:prstGeom>
          <a:noFill/>
          <a:ln/>
        </p:spPr>
        <p:txBody>
          <a:bodyPr wrap="square" rtlCol="0" anchor="ctr"/>
          <a:lstStyle/>
          <a:p>
            <a:pPr marL="0" indent="0">
              <a:buNone/>
            </a:pPr>
            <a:r>
              <a:rPr lang="en-US" sz="1000" b="1" kern="0" spc="100" dirty="0">
                <a:solidFill>
                  <a:srgbClr val="065A82"/>
                </a:solidFill>
                <a:latin typeface="Calibri" pitchFamily="34" charset="0"/>
                <a:ea typeface="Calibri" pitchFamily="34" charset="-122"/>
                <a:cs typeface="Calibri" pitchFamily="34" charset="-120"/>
              </a:rPr>
              <a:t>TEAM NO.</a:t>
            </a:r>
            <a:endParaRPr lang="en-US" sz="1000" dirty="0"/>
          </a:p>
        </p:txBody>
      </p:sp>
      <p:sp>
        <p:nvSpPr>
          <p:cNvPr id="9" name="Text 7"/>
          <p:cNvSpPr/>
          <p:nvPr/>
        </p:nvSpPr>
        <p:spPr>
          <a:xfrm>
            <a:off x="4160520" y="1755648"/>
            <a:ext cx="2743200" cy="502920"/>
          </a:xfrm>
          <a:prstGeom prst="rect">
            <a:avLst/>
          </a:prstGeom>
          <a:noFill/>
          <a:ln/>
        </p:spPr>
        <p:txBody>
          <a:bodyPr wrap="square" rtlCol="0" anchor="ctr"/>
          <a:lstStyle/>
          <a:p>
            <a:pPr marL="0" indent="0">
              <a:buNone/>
            </a:pPr>
            <a:r>
              <a:rPr lang="en-US" sz="2600" b="1" dirty="0">
                <a:solidFill>
                  <a:srgbClr val="1B2733"/>
                </a:solidFill>
                <a:latin typeface="Cambria" pitchFamily="34" charset="0"/>
                <a:ea typeface="Cambria" pitchFamily="34" charset="-122"/>
                <a:cs typeface="Cambria" pitchFamily="34" charset="-120"/>
              </a:rPr>
              <a:t>7</a:t>
            </a:r>
            <a:endParaRPr lang="en-US" sz="2600" dirty="0"/>
          </a:p>
        </p:txBody>
      </p:sp>
      <p:sp>
        <p:nvSpPr>
          <p:cNvPr id="10" name="Shape 8"/>
          <p:cNvSpPr/>
          <p:nvPr/>
        </p:nvSpPr>
        <p:spPr>
          <a:xfrm>
            <a:off x="640080" y="2743200"/>
            <a:ext cx="10881360" cy="1234440"/>
          </a:xfrm>
          <a:prstGeom prst="roundRect">
            <a:avLst>
              <a:gd name="adj" fmla="val 6667"/>
            </a:avLst>
          </a:prstGeom>
          <a:solidFill>
            <a:srgbClr val="FFFFFF"/>
          </a:solidFill>
          <a:ln w="12700">
            <a:solidFill>
              <a:srgbClr val="DCE3E8"/>
            </a:solidFill>
            <a:prstDash val="solid"/>
          </a:ln>
          <a:effectLst>
            <a:outerShdw blurRad="76200" dist="25400" dir="5400000" algn="bl" rotWithShape="0">
              <a:srgbClr val="1B2733">
                <a:alpha val="10000"/>
              </a:srgbClr>
            </a:outerShdw>
          </a:effectLst>
        </p:spPr>
        <p:txBody>
          <a:bodyPr/>
          <a:lstStyle/>
          <a:p>
            <a:endParaRPr lang="en-IN"/>
          </a:p>
        </p:txBody>
      </p:sp>
      <p:sp>
        <p:nvSpPr>
          <p:cNvPr id="11" name="Shape 9"/>
          <p:cNvSpPr/>
          <p:nvPr/>
        </p:nvSpPr>
        <p:spPr>
          <a:xfrm>
            <a:off x="914400" y="2999232"/>
            <a:ext cx="731520" cy="731520"/>
          </a:xfrm>
          <a:prstGeom prst="ellipse">
            <a:avLst/>
          </a:prstGeom>
          <a:solidFill>
            <a:srgbClr val="065A82"/>
          </a:solidFill>
          <a:ln/>
        </p:spPr>
        <p:txBody>
          <a:bodyPr/>
          <a:lstStyle/>
          <a:p>
            <a:endParaRPr lang="en-IN"/>
          </a:p>
        </p:txBody>
      </p:sp>
      <p:sp>
        <p:nvSpPr>
          <p:cNvPr id="12" name="Text 10"/>
          <p:cNvSpPr/>
          <p:nvPr/>
        </p:nvSpPr>
        <p:spPr>
          <a:xfrm>
            <a:off x="914400" y="2999232"/>
            <a:ext cx="731520" cy="7315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VS</a:t>
            </a:r>
            <a:endParaRPr lang="en-US" sz="1800" dirty="0"/>
          </a:p>
        </p:txBody>
      </p:sp>
      <p:sp>
        <p:nvSpPr>
          <p:cNvPr id="13" name="Text 11"/>
          <p:cNvSpPr/>
          <p:nvPr/>
        </p:nvSpPr>
        <p:spPr>
          <a:xfrm>
            <a:off x="1920240" y="2944368"/>
            <a:ext cx="5943600" cy="457200"/>
          </a:xfrm>
          <a:prstGeom prst="rect">
            <a:avLst/>
          </a:prstGeom>
          <a:noFill/>
          <a:ln/>
        </p:spPr>
        <p:txBody>
          <a:bodyPr wrap="square" rtlCol="0" anchor="ctr"/>
          <a:lstStyle/>
          <a:p>
            <a:pPr marL="0" indent="0">
              <a:buNone/>
            </a:pPr>
            <a:r>
              <a:rPr lang="en-US" sz="1700" b="1" dirty="0">
                <a:solidFill>
                  <a:srgbClr val="1B2733"/>
                </a:solidFill>
                <a:latin typeface="Cambria" pitchFamily="34" charset="0"/>
                <a:ea typeface="Cambria" pitchFamily="34" charset="-122"/>
                <a:cs typeface="Cambria" pitchFamily="34" charset="-120"/>
              </a:rPr>
              <a:t>Venkat Siddharth Reddy Moku</a:t>
            </a:r>
            <a:endParaRPr lang="en-US" sz="1700" dirty="0"/>
          </a:p>
        </p:txBody>
      </p:sp>
      <p:sp>
        <p:nvSpPr>
          <p:cNvPr id="14" name="Text 12"/>
          <p:cNvSpPr/>
          <p:nvPr/>
        </p:nvSpPr>
        <p:spPr>
          <a:xfrm>
            <a:off x="1920240" y="3401568"/>
            <a:ext cx="5943600" cy="365760"/>
          </a:xfrm>
          <a:prstGeom prst="rect">
            <a:avLst/>
          </a:prstGeom>
          <a:noFill/>
          <a:ln/>
        </p:spPr>
        <p:txBody>
          <a:bodyPr wrap="square" rtlCol="0" anchor="ctr"/>
          <a:lstStyle/>
          <a:p>
            <a:pPr marL="0" indent="0">
              <a:buNone/>
            </a:pPr>
            <a:r>
              <a:rPr lang="en-US" sz="1250" dirty="0">
                <a:solidFill>
                  <a:srgbClr val="5B6B77"/>
                </a:solidFill>
                <a:latin typeface="Calibri" pitchFamily="34" charset="0"/>
                <a:ea typeface="Calibri" pitchFamily="34" charset="-122"/>
                <a:cs typeface="Calibri" pitchFamily="34" charset="-120"/>
              </a:rPr>
              <a:t>Roll No: 2520090026</a:t>
            </a:r>
            <a:endParaRPr lang="en-US" sz="1250" dirty="0"/>
          </a:p>
        </p:txBody>
      </p:sp>
      <p:sp>
        <p:nvSpPr>
          <p:cNvPr id="15" name="Shape 13"/>
          <p:cNvSpPr/>
          <p:nvPr/>
        </p:nvSpPr>
        <p:spPr>
          <a:xfrm>
            <a:off x="640080" y="4251960"/>
            <a:ext cx="10881360" cy="1234440"/>
          </a:xfrm>
          <a:prstGeom prst="roundRect">
            <a:avLst>
              <a:gd name="adj" fmla="val 6667"/>
            </a:avLst>
          </a:prstGeom>
          <a:solidFill>
            <a:srgbClr val="FFFFFF"/>
          </a:solidFill>
          <a:ln w="12700">
            <a:solidFill>
              <a:srgbClr val="DCE3E8"/>
            </a:solidFill>
            <a:prstDash val="solid"/>
          </a:ln>
          <a:effectLst>
            <a:outerShdw blurRad="76200" dist="25400" dir="5400000" algn="bl" rotWithShape="0">
              <a:srgbClr val="1B2733">
                <a:alpha val="10000"/>
              </a:srgbClr>
            </a:outerShdw>
          </a:effectLst>
        </p:spPr>
        <p:txBody>
          <a:bodyPr/>
          <a:lstStyle/>
          <a:p>
            <a:endParaRPr lang="en-IN"/>
          </a:p>
        </p:txBody>
      </p:sp>
      <p:sp>
        <p:nvSpPr>
          <p:cNvPr id="16" name="Shape 14"/>
          <p:cNvSpPr/>
          <p:nvPr/>
        </p:nvSpPr>
        <p:spPr>
          <a:xfrm>
            <a:off x="914400" y="4507992"/>
            <a:ext cx="731520" cy="731520"/>
          </a:xfrm>
          <a:prstGeom prst="ellipse">
            <a:avLst/>
          </a:prstGeom>
          <a:solidFill>
            <a:srgbClr val="065A82"/>
          </a:solidFill>
          <a:ln/>
        </p:spPr>
        <p:txBody>
          <a:bodyPr/>
          <a:lstStyle/>
          <a:p>
            <a:endParaRPr lang="en-IN"/>
          </a:p>
        </p:txBody>
      </p:sp>
      <p:sp>
        <p:nvSpPr>
          <p:cNvPr id="17" name="Text 15"/>
          <p:cNvSpPr/>
          <p:nvPr/>
        </p:nvSpPr>
        <p:spPr>
          <a:xfrm>
            <a:off x="914400" y="4507992"/>
            <a:ext cx="731520" cy="7315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SS</a:t>
            </a:r>
            <a:endParaRPr lang="en-US" sz="1800" dirty="0"/>
          </a:p>
        </p:txBody>
      </p:sp>
      <p:sp>
        <p:nvSpPr>
          <p:cNvPr id="18" name="Text 16"/>
          <p:cNvSpPr/>
          <p:nvPr/>
        </p:nvSpPr>
        <p:spPr>
          <a:xfrm>
            <a:off x="1920240" y="4453128"/>
            <a:ext cx="5943600" cy="457200"/>
          </a:xfrm>
          <a:prstGeom prst="rect">
            <a:avLst/>
          </a:prstGeom>
          <a:noFill/>
          <a:ln/>
        </p:spPr>
        <p:txBody>
          <a:bodyPr wrap="square" rtlCol="0" anchor="ctr"/>
          <a:lstStyle/>
          <a:p>
            <a:pPr marL="0" indent="0">
              <a:buNone/>
            </a:pPr>
            <a:r>
              <a:rPr lang="en-US" sz="1700" b="1" dirty="0">
                <a:solidFill>
                  <a:srgbClr val="1B2733"/>
                </a:solidFill>
                <a:latin typeface="Cambria" pitchFamily="34" charset="0"/>
                <a:ea typeface="Cambria" pitchFamily="34" charset="-122"/>
                <a:cs typeface="Cambria" pitchFamily="34" charset="-120"/>
              </a:rPr>
              <a:t>Sai Saketh Vutharavalli</a:t>
            </a:r>
            <a:endParaRPr lang="en-US" sz="1700" dirty="0"/>
          </a:p>
        </p:txBody>
      </p:sp>
      <p:sp>
        <p:nvSpPr>
          <p:cNvPr id="19" name="Text 17"/>
          <p:cNvSpPr/>
          <p:nvPr/>
        </p:nvSpPr>
        <p:spPr>
          <a:xfrm>
            <a:off x="1920240" y="4910328"/>
            <a:ext cx="5943600" cy="365760"/>
          </a:xfrm>
          <a:prstGeom prst="rect">
            <a:avLst/>
          </a:prstGeom>
          <a:noFill/>
          <a:ln/>
        </p:spPr>
        <p:txBody>
          <a:bodyPr wrap="square" rtlCol="0" anchor="ctr"/>
          <a:lstStyle/>
          <a:p>
            <a:pPr marL="0" indent="0">
              <a:buNone/>
            </a:pPr>
            <a:r>
              <a:rPr lang="en-US" sz="1250" dirty="0">
                <a:solidFill>
                  <a:srgbClr val="5B6B77"/>
                </a:solidFill>
                <a:latin typeface="Calibri" pitchFamily="34" charset="0"/>
                <a:ea typeface="Calibri" pitchFamily="34" charset="-122"/>
                <a:cs typeface="Calibri" pitchFamily="34" charset="-120"/>
              </a:rPr>
              <a:t>Roll No: 2520090055</a:t>
            </a:r>
            <a:endParaRPr lang="en-US" sz="1250" dirty="0"/>
          </a:p>
        </p:txBody>
      </p:sp>
      <p:sp>
        <p:nvSpPr>
          <p:cNvPr id="20" name="Text 18"/>
          <p:cNvSpPr/>
          <p:nvPr/>
        </p:nvSpPr>
        <p:spPr>
          <a:xfrm>
            <a:off x="640080" y="5943600"/>
            <a:ext cx="10515600" cy="365760"/>
          </a:xfrm>
          <a:prstGeom prst="rect">
            <a:avLst/>
          </a:prstGeom>
          <a:noFill/>
          <a:ln/>
        </p:spPr>
        <p:txBody>
          <a:bodyPr wrap="square" rtlCol="0" anchor="ctr"/>
          <a:lstStyle/>
          <a:p>
            <a:pPr marL="0" indent="0">
              <a:buNone/>
            </a:pPr>
            <a:r>
              <a:rPr lang="en-US" sz="1200" i="1" dirty="0">
                <a:solidFill>
                  <a:srgbClr val="5B6B77"/>
                </a:solidFill>
                <a:latin typeface="Calibri" pitchFamily="34" charset="0"/>
                <a:ea typeface="Calibri" pitchFamily="34" charset="-122"/>
                <a:cs typeface="Calibri" pitchFamily="34" charset="-120"/>
              </a:rPr>
              <a:t>Guide Name &amp; Signature: ________________________________</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961120" y="-1371600"/>
            <a:ext cx="4572000" cy="4572000"/>
          </a:xfrm>
          <a:prstGeom prst="ellipse">
            <a:avLst/>
          </a:prstGeom>
          <a:solidFill>
            <a:srgbClr val="065A82">
              <a:alpha val="60000"/>
            </a:srgbClr>
          </a:solidFill>
          <a:ln/>
        </p:spPr>
        <p:txBody>
          <a:bodyPr/>
          <a:lstStyle/>
          <a:p>
            <a:endParaRPr lang="en-IN"/>
          </a:p>
        </p:txBody>
      </p:sp>
      <p:sp>
        <p:nvSpPr>
          <p:cNvPr id="3" name="Shape 1"/>
          <p:cNvSpPr/>
          <p:nvPr/>
        </p:nvSpPr>
        <p:spPr>
          <a:xfrm>
            <a:off x="-1371600" y="4572000"/>
            <a:ext cx="3840480" cy="3840480"/>
          </a:xfrm>
          <a:prstGeom prst="ellipse">
            <a:avLst/>
          </a:prstGeom>
          <a:solidFill>
            <a:srgbClr val="1C7293">
              <a:alpha val="50000"/>
            </a:srgbClr>
          </a:solidFill>
          <a:ln/>
        </p:spPr>
        <p:txBody>
          <a:bodyPr/>
          <a:lstStyle/>
          <a:p>
            <a:endParaRPr lang="en-IN"/>
          </a:p>
        </p:txBody>
      </p:sp>
      <p:pic>
        <p:nvPicPr>
          <p:cNvPr id="4" name="Image 0" descr="icon_grad.png"/>
          <p:cNvPicPr>
            <a:picLocks noChangeAspect="1"/>
          </p:cNvPicPr>
          <p:nvPr/>
        </p:nvPicPr>
        <p:blipFill>
          <a:blip r:embed="rId3"/>
          <a:stretch>
            <a:fillRect/>
          </a:stretch>
        </p:blipFill>
        <p:spPr>
          <a:xfrm>
            <a:off x="5394960" y="1828800"/>
            <a:ext cx="1371600" cy="1371600"/>
          </a:xfrm>
          <a:prstGeom prst="rect">
            <a:avLst/>
          </a:prstGeom>
        </p:spPr>
      </p:pic>
      <p:sp>
        <p:nvSpPr>
          <p:cNvPr id="5" name="Text 2"/>
          <p:cNvSpPr/>
          <p:nvPr/>
        </p:nvSpPr>
        <p:spPr>
          <a:xfrm>
            <a:off x="640080" y="3383280"/>
            <a:ext cx="10972800" cy="91440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6" name="Text 3"/>
          <p:cNvSpPr/>
          <p:nvPr/>
        </p:nvSpPr>
        <p:spPr>
          <a:xfrm>
            <a:off x="640080" y="4251960"/>
            <a:ext cx="10972800" cy="457200"/>
          </a:xfrm>
          <a:prstGeom prst="rect">
            <a:avLst/>
          </a:prstGeom>
          <a:noFill/>
          <a:ln/>
        </p:spPr>
        <p:txBody>
          <a:bodyPr wrap="square" rtlCol="0" anchor="ctr"/>
          <a:lstStyle/>
          <a:p>
            <a:pPr marL="0" indent="0" algn="ctr">
              <a:buNone/>
            </a:pPr>
            <a:r>
              <a:rPr lang="en-US" sz="1500" i="1" dirty="0">
                <a:solidFill>
                  <a:srgbClr val="CADCFC"/>
                </a:solidFill>
                <a:latin typeface="Calibri" pitchFamily="34" charset="0"/>
                <a:ea typeface="Calibri" pitchFamily="34" charset="-122"/>
                <a:cs typeface="Calibri" pitchFamily="34" charset="-120"/>
              </a:rPr>
              <a:t>Online Learning Management System — Team 23, Section 10</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644</Words>
  <Application>Microsoft Office PowerPoint</Application>
  <PresentationFormat>Widescreen</PresentationFormat>
  <Paragraphs>87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Saketh Vutharavalli</cp:lastModifiedBy>
  <cp:revision>3</cp:revision>
  <dcterms:created xsi:type="dcterms:W3CDTF">2026-08-24T03:32:47Z</dcterms:created>
  <dcterms:modified xsi:type="dcterms:W3CDTF">2026-09-30T10:08:48Z</dcterms:modified>
</cp:coreProperties>
</file>