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3359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—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698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</a:t>
            </a:r>
            <a:endParaRPr lang="en-US" sz="4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566160" y="443484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2A3B8F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3566160" y="45720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FFFFF"/>
                </a:solidFill>
              </a:rPr>
              <a:t>Sec No: 10      Team No: 27</a:t>
            </a:r>
            <a:endParaRPr lang="en-US" sz="20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500" dirty="0">
                <a:solidFill>
                  <a:srgbClr val="CADCFC"/>
                </a:solidFill>
              </a:rPr>
              <a:t>Venkat Siddharth Reddy Moku  (2520090026)</a:t>
            </a:r>
            <a:endParaRPr lang="en-US" sz="20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</a:rPr>
              <a:t>Sai Saketh Vutharavalli  (2520090055)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Y25 · 2026-2027 · Trimester 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8288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assets/ic_pro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29184"/>
            <a:ext cx="301752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0972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11247120" cy="1051560"/>
          </a:xfrm>
          <a:prstGeom prst="roundRect">
            <a:avLst>
              <a:gd name="adj" fmla="val 6087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685800" y="172364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85800" y="17236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25880" y="1417320"/>
            <a:ext cx="10104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classroom-only learning does not scale to large numbers of students.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57200" y="2651760"/>
            <a:ext cx="11247120" cy="1051560"/>
          </a:xfrm>
          <a:prstGeom prst="roundRect">
            <a:avLst>
              <a:gd name="adj" fmla="val 6087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85800" y="295808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85800" y="29580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325880" y="2651760"/>
            <a:ext cx="10104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 have no real-time visibility into student engagement or progress.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457200" y="3886200"/>
            <a:ext cx="11247120" cy="1051560"/>
          </a:xfrm>
          <a:prstGeom prst="roundRect">
            <a:avLst>
              <a:gd name="adj" fmla="val 6087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85800" y="419252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85800" y="41925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325880" y="3886200"/>
            <a:ext cx="10104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existing LMS tools are rigid, with little live interaction between students and instructors.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457200" y="5120640"/>
            <a:ext cx="11247120" cy="1051560"/>
          </a:xfrm>
          <a:prstGeom prst="roundRect">
            <a:avLst>
              <a:gd name="adj" fmla="val 6087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685800" y="542696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685800" y="54269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325880" y="5120640"/>
            <a:ext cx="10104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lack a single, verifiable record of what they have learned and completed.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7 · Section 10 · Online Learning Management System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8288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assets/ic_objecti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29184"/>
            <a:ext cx="301752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0972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22960" y="12801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complete e-learning platform with course authoring, video streaming, assessments, and progress certification.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57200" y="3255264"/>
            <a:ext cx="310896" cy="310896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57200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96112" y="320040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instructors to author and publish structured courses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57200" y="3913632"/>
            <a:ext cx="310896" cy="310896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57200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96112" y="385876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reliable, scalable streaming of video lectures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457200" y="4572000"/>
            <a:ext cx="310896" cy="310896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57200" y="4572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96112" y="451713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quizzes and assignments to assess learning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6309360" y="3255264"/>
            <a:ext cx="310896" cy="310896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309360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748272" y="320040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individual student progress toward certification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6309360" y="3913632"/>
            <a:ext cx="310896" cy="310896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309360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748272" y="385876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real-time discussion between students and instructors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6309360" y="4572000"/>
            <a:ext cx="310896" cy="310896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6309360" y="4572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748272" y="451713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administrators visibility through usage analytics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7 · Section 10 · Online Learning Management System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8288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assets/ic_propos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29184"/>
            <a:ext cx="301752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0972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11887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platform connecting instructors and learners — from course creation to certified completion.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214884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214884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Course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026664" y="2628900"/>
            <a:ext cx="384048" cy="274320"/>
          </a:xfrm>
          <a:prstGeom prst="rightArrow">
            <a:avLst/>
          </a:prstGeom>
          <a:solidFill>
            <a:srgbClr val="5B6B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474720" y="214884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474720" y="214884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Enrolls &amp; Learns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044184" y="2628900"/>
            <a:ext cx="384048" cy="274320"/>
          </a:xfrm>
          <a:prstGeom prst="rightArrow">
            <a:avLst/>
          </a:prstGeom>
          <a:solidFill>
            <a:srgbClr val="5B6B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492240" y="214884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492240" y="214884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Assesses &amp; Tracks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061704" y="2628900"/>
            <a:ext cx="384048" cy="274320"/>
          </a:xfrm>
          <a:prstGeom prst="rightArrow">
            <a:avLst/>
          </a:prstGeom>
          <a:solidFill>
            <a:srgbClr val="5B6B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9509760" y="214884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9509760" y="214884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Earns Certificate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3794760"/>
            <a:ext cx="11247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full-stack web application: React.js front end, Node.js/Express back end, MySQL database.</a:t>
            </a:r>
            <a:endParaRPr lang="en-US" sz="20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(recorded lectures) is stored and streamed from AWS S3; Socket.io powers live discussion.</a:t>
            </a:r>
            <a:endParaRPr lang="en-US" sz="20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disconnected tools with one system covering authoring, delivery, assessment and certification.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7 · Section 10 · Online Learning Management System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8288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assets/ic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29184"/>
            <a:ext cx="301752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0972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822960" y="1600200"/>
            <a:ext cx="2834640" cy="1737360"/>
          </a:xfrm>
          <a:prstGeom prst="roundRect">
            <a:avLst>
              <a:gd name="adj" fmla="val 4737"/>
            </a:avLst>
          </a:prstGeom>
          <a:solidFill>
            <a:srgbClr val="F4F6F9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947672" y="178308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assets/icon_re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544" y="1901952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468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822960" y="27706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SPA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(Browser)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785616" y="2322576"/>
            <a:ext cx="566928" cy="292608"/>
          </a:xfrm>
          <a:prstGeom prst="rightArrow">
            <a:avLst/>
          </a:prstGeom>
          <a:solidFill>
            <a:srgbClr val="5B6B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4480560" y="1600200"/>
            <a:ext cx="2834640" cy="1737360"/>
          </a:xfrm>
          <a:prstGeom prst="roundRect">
            <a:avLst>
              <a:gd name="adj" fmla="val 4737"/>
            </a:avLst>
          </a:prstGeom>
          <a:solidFill>
            <a:srgbClr val="F4F6F9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5605272" y="1783080"/>
            <a:ext cx="585216" cy="585216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assets/icon_n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4144" y="1901952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80560" y="2468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4480560" y="27706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7443216" y="2322576"/>
            <a:ext cx="566928" cy="292608"/>
          </a:xfrm>
          <a:prstGeom prst="rightArrow">
            <a:avLst/>
          </a:prstGeom>
          <a:solidFill>
            <a:srgbClr val="5B6B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8138160" y="1600200"/>
            <a:ext cx="2834640" cy="1737360"/>
          </a:xfrm>
          <a:prstGeom prst="roundRect">
            <a:avLst>
              <a:gd name="adj" fmla="val 4737"/>
            </a:avLst>
          </a:prstGeom>
          <a:solidFill>
            <a:srgbClr val="F4F6F9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9262872" y="178308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assets/icon_mysq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1744" y="1901952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138160" y="2468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8138160" y="27706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(Relational Data)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822960" y="3840480"/>
            <a:ext cx="3520440" cy="96012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4" descr="assets/icon_aw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8" y="4096512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39593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1645920" y="4297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lecture storage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4663440" y="3840480"/>
            <a:ext cx="3520440" cy="96012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5" descr="assets/icon_jw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4608" y="4096512"/>
            <a:ext cx="457200" cy="4572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486400" y="39593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500" dirty="0"/>
          </a:p>
        </p:txBody>
      </p:sp>
      <p:sp>
        <p:nvSpPr>
          <p:cNvPr id="30" name="Text 22"/>
          <p:cNvSpPr/>
          <p:nvPr/>
        </p:nvSpPr>
        <p:spPr>
          <a:xfrm>
            <a:off x="5486400" y="4297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authentication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8503920" y="3840480"/>
            <a:ext cx="3520440" cy="96012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6" descr="assets/icon_socketi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05088" y="4096512"/>
            <a:ext cx="457200" cy="45720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326880" y="39593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500" dirty="0"/>
          </a:p>
        </p:txBody>
      </p:sp>
      <p:sp>
        <p:nvSpPr>
          <p:cNvPr id="34" name="Text 25"/>
          <p:cNvSpPr/>
          <p:nvPr/>
        </p:nvSpPr>
        <p:spPr>
          <a:xfrm>
            <a:off x="9326880" y="4297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discussion forum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457200" y="5074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architecture: presentation, application logic, and data — with cloud storage and real-time messaging as supporting services.</a:t>
            </a:r>
            <a:endParaRPr lang="en-US" sz="1350" dirty="0"/>
          </a:p>
        </p:txBody>
      </p:sp>
      <p:sp>
        <p:nvSpPr>
          <p:cNvPr id="36" name="Text 27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7 · Section 10 · Online Learning Management System</a:t>
            </a:r>
            <a:endParaRPr lang="en-US" sz="1050" dirty="0"/>
          </a:p>
        </p:txBody>
      </p:sp>
      <p:sp>
        <p:nvSpPr>
          <p:cNvPr id="37" name="Text 28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8288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assets/ic_modu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29184"/>
            <a:ext cx="301752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0972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/ Functionalities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26568" y="1700784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627736" y="190195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27736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09448" y="2569464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Role Management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3306928" y="1700784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508096" y="190195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508096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489808" y="2569464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Builder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187288" y="1700784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388456" y="190195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388456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370168" y="2569464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Lecture Streaming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9067648" y="1700784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9268816" y="190195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9268816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250528" y="2569464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&amp; Assignment Engine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426568" y="3922776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627736" y="412394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627736" y="4123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09448" y="4791456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 &amp; Certificates</a:t>
            </a:r>
            <a:endParaRPr lang="en-US" sz="1550" dirty="0"/>
          </a:p>
        </p:txBody>
      </p:sp>
      <p:sp>
        <p:nvSpPr>
          <p:cNvPr id="26" name="Shape 23"/>
          <p:cNvSpPr/>
          <p:nvPr/>
        </p:nvSpPr>
        <p:spPr>
          <a:xfrm>
            <a:off x="3306928" y="3922776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3508096" y="412394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3508096" y="4123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489808" y="4791456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Forum</a:t>
            </a:r>
            <a:endParaRPr lang="en-US" sz="1550" dirty="0"/>
          </a:p>
        </p:txBody>
      </p:sp>
      <p:sp>
        <p:nvSpPr>
          <p:cNvPr id="30" name="Shape 27"/>
          <p:cNvSpPr/>
          <p:nvPr/>
        </p:nvSpPr>
        <p:spPr>
          <a:xfrm>
            <a:off x="6187288" y="3922776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6388456" y="412394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6388456" y="4123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6370168" y="4791456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Analytics</a:t>
            </a:r>
            <a:endParaRPr lang="en-US" sz="1550" dirty="0"/>
          </a:p>
        </p:txBody>
      </p:sp>
      <p:sp>
        <p:nvSpPr>
          <p:cNvPr id="34" name="Text 31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7 · Section 10 · Online Learning Management System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8288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assets/ic_front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29184"/>
            <a:ext cx="301752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0972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Design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screens: Home, Login / Registration, Dashboard, and Forms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2288" y="1554480"/>
            <a:ext cx="548640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assets/shot_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9296" y="1627632"/>
            <a:ext cx="3072384" cy="1920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2288" y="3557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233008" y="1554480"/>
            <a:ext cx="548640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2" descr="assets/shot_log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0016" y="1627632"/>
            <a:ext cx="3072384" cy="19202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33008" y="3557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Registration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72288" y="4206240"/>
            <a:ext cx="548640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3" descr="assets/shot_dash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9296" y="4279392"/>
            <a:ext cx="3072384" cy="19202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2288" y="62087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233008" y="4206240"/>
            <a:ext cx="548640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4" descr="assets/shot_for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0016" y="4279392"/>
            <a:ext cx="3072384" cy="19202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233008" y="62087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Form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7 · Section 10 · Online Learning Management System</a:t>
            </a:r>
            <a:endParaRPr lang="en-US" sz="1050" dirty="0"/>
          </a:p>
        </p:txBody>
      </p:sp>
      <p:sp>
        <p:nvSpPr>
          <p:cNvPr id="20" name="Text 13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8288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assets/ic_scree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29184"/>
            <a:ext cx="301752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0972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Implementation — Screenshots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screens implemented so far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6720840" cy="4709160"/>
          </a:xfrm>
          <a:prstGeom prst="roundRect">
            <a:avLst>
              <a:gd name="adj" fmla="val 97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assets/shot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45920"/>
            <a:ext cx="6537960" cy="40862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5879592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 — course progress overview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406640" y="1554480"/>
            <a:ext cx="4325112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2" descr="assets/shot_log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4210" y="1627632"/>
            <a:ext cx="2969971" cy="18562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06640" y="3502152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Screen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7406640" y="4023360"/>
            <a:ext cx="4325112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3" descr="assets/shot_for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4210" y="4096512"/>
            <a:ext cx="2969971" cy="18562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06640" y="5971032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Submission Form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7 · Section 10 · Online Learning Management System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8288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assets/ic_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29184"/>
            <a:ext cx="301752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0972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— ER Diagram</a:t>
            </a:r>
            <a:endParaRPr lang="en-US" sz="3200" dirty="0"/>
          </a:p>
        </p:txBody>
      </p:sp>
      <p:pic>
        <p:nvPicPr>
          <p:cNvPr id="6" name="Image 1" descr="assets/er_diagram_detailed_cropp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328" y="1097280"/>
            <a:ext cx="10607040" cy="487832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7 · Section 10 · Online Learning Management System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8288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assets/ic_sch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29184"/>
            <a:ext cx="301752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0972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 / Schema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460857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Columns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 (PK), name, email, 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students, instructors, admins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course_id (PK), title, instructor_id (FK)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Courses authored by instructors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module_id (PK), course_id (FK), title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Sections within a course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enrollment_id (PK), user_id (FK), course_id (FK)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 students to enrolled courses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QUIZZES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quiz_id (PK), module_id (FK), total_marks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Assessments within a module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SUBMISSIONS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submission_id (PK), quiz_id (FK), user_id (FK),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quiz attempts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7 · Section 10 · Online Learning Management System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8288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assets/ic_reco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29184"/>
            <a:ext cx="301752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0972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Database Records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rows from the USERS and ENROLLMENTS tables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5486400" cy="18288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Venkat Siddharth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venkat@lms.edu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 Saketh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saketh@lms.edu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Ananya Rao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ananya@lms.edu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26364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ENROLLMENTS</a:t>
            </a:r>
            <a:endParaRPr lang="en-US" sz="16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920240"/>
          <a:ext cx="5486400" cy="18288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457200" y="3977640"/>
            <a:ext cx="11247120" cy="2148840"/>
          </a:xfrm>
          <a:prstGeom prst="roundRect">
            <a:avLst>
              <a:gd name="adj" fmla="val 2979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7"/>
          <p:cNvSpPr/>
          <p:nvPr/>
        </p:nvSpPr>
        <p:spPr>
          <a:xfrm>
            <a:off x="77724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777240" y="448056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shown are representative test data used to validate schema relationships.</a:t>
            </a:r>
            <a:endParaRPr lang="en-US" sz="20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in ENROLLMENTS references USERS; course_id references COURSES.</a:t>
            </a:r>
            <a:endParaRPr lang="en-US" sz="20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will be captured once the enrollment and progress-tracking modules are connected end to end.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7 · Section 10 · Online Learning Management System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8288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assets/ic_prog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29184"/>
            <a:ext cx="301752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0972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Progress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691640"/>
            <a:ext cx="11247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200"/>
              </a:spcAft>
              <a:buSzPct val="100000"/>
              <a:buChar char="✓"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abstract and scope finalized and approved</a:t>
            </a:r>
            <a:endParaRPr lang="en-US" sz="1800" dirty="0"/>
          </a:p>
          <a:p>
            <a:pPr marL="228600" indent="-228600">
              <a:spcAft>
                <a:spcPts val="2200"/>
              </a:spcAft>
              <a:buSzPct val="100000"/>
              <a:buChar char="✓"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and technology stack finalized</a:t>
            </a:r>
            <a:endParaRPr lang="en-US" sz="1800" dirty="0"/>
          </a:p>
          <a:p>
            <a:pPr marL="228600" indent="-228600">
              <a:spcAft>
                <a:spcPts val="2200"/>
              </a:spcAft>
              <a:buSzPct val="100000"/>
              <a:buChar char="✓"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designed across 6 core tables</a:t>
            </a:r>
            <a:endParaRPr lang="en-US" sz="1800" dirty="0"/>
          </a:p>
          <a:p>
            <a:pPr marL="228600" indent="-228600">
              <a:spcAft>
                <a:spcPts val="2200"/>
              </a:spcAft>
              <a:buSzPct val="100000"/>
              <a:buChar char="✓"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page designs completed for all key screens</a:t>
            </a:r>
            <a:endParaRPr lang="en-US" sz="1800" dirty="0"/>
          </a:p>
          <a:p>
            <a:pPr marL="228600" indent="-228600">
              <a:spcAft>
                <a:spcPts val="2200"/>
              </a:spcAft>
              <a:buSzPct val="100000"/>
              <a:buChar char="✓"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flow (JWT) designed for 3 user roles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57200" y="4800600"/>
            <a:ext cx="11247120" cy="1417320"/>
          </a:xfrm>
          <a:prstGeom prst="roundRect">
            <a:avLst>
              <a:gd name="adj" fmla="val 451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77240" y="4956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Completion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" y="5349240"/>
            <a:ext cx="8686800" cy="365760"/>
          </a:xfrm>
          <a:prstGeom prst="roundRect">
            <a:avLst>
              <a:gd name="adj" fmla="val 15000"/>
            </a:avLst>
          </a:prstGeom>
          <a:solidFill>
            <a:srgbClr val="3A46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777240" y="53492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9601200" y="52852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7 · Section 10 · Online Learning Management System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8288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assets/ic_challen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29184"/>
            <a:ext cx="301752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0972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/ Issues Faced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72288" y="1371600"/>
            <a:ext cx="5440680" cy="2148840"/>
          </a:xfrm>
          <a:prstGeom prst="roundRect">
            <a:avLst>
              <a:gd name="adj" fmla="val 2979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700888" y="157276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00888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340968" y="161848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Streaming Performance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46608" y="22402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smooth playback of lecture videos from AWS S3 without buffering on slower connections.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278728" y="1371600"/>
            <a:ext cx="5440680" cy="2148840"/>
          </a:xfrm>
          <a:prstGeom prst="roundRect">
            <a:avLst>
              <a:gd name="adj" fmla="val 2979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507328" y="157276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507328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147408" y="161848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553048" y="22402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discussion forum and progress updates consistent across users with Socket.io.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472288" y="3840480"/>
            <a:ext cx="5440680" cy="2148840"/>
          </a:xfrm>
          <a:prstGeom prst="roundRect">
            <a:avLst>
              <a:gd name="adj" fmla="val 2979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700888" y="404164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700888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340968" y="408736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746608" y="4709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clean JWT-based permission model for student, instructor, and admin roles.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6278728" y="3840480"/>
            <a:ext cx="5440680" cy="2148840"/>
          </a:xfrm>
          <a:prstGeom prst="roundRect">
            <a:avLst>
              <a:gd name="adj" fmla="val 2979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6507328" y="404164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507328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7147408" y="408736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 Trade-offs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6553048" y="4709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normalization with query performance for progress tracking at scale.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7 · Section 10 · Online Learning Management System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8288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assets/ic_fu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29184"/>
            <a:ext cx="301752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0972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57200" y="26974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5720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87552" y="26517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frontend screens to live REST APIs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57200" y="34747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5720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87552" y="34290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video upload pipeline to AWS S3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457200" y="42519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5720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87552" y="42062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quiz engine and auto-grading logic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6309360" y="26974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30936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839712" y="26517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Socket.io for the live discussion forum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6309360" y="34747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30936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839712" y="34290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downloadable PDF certificates on completion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6309360" y="42519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630936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839712" y="42062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end-to-end testing before final review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7 · Section 10 · Online Learning Management System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881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0"/>
              </a:spcAft>
              <a:buSzPct val="100000"/>
              <a:buChar char="▪"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Online Learning Management System addresses real gaps in scale, visibility, and flexibility left by traditional and existing LMS tools.</a:t>
            </a:r>
            <a:endParaRPr lang="en-US" sz="2200" dirty="0"/>
          </a:p>
          <a:p>
            <a:pPr marL="228600" indent="-228600">
              <a:spcAft>
                <a:spcPts val="2000"/>
              </a:spcAft>
              <a:buSzPct val="100000"/>
              <a:buChar char="▪"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database schema, and frontend design are complete; core modules are in active development.</a:t>
            </a:r>
            <a:endParaRPr lang="en-US" sz="2200" dirty="0"/>
          </a:p>
          <a:p>
            <a:pPr marL="228600" indent="-228600">
              <a:spcAft>
                <a:spcPts val="2000"/>
              </a:spcAft>
              <a:buSzPct val="100000"/>
              <a:buChar char="▪"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on track to deliver a fully working, demo-ready LMS by the final review.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98348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2A3B8F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5029200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1038</Words>
  <Application>Microsoft Office PowerPoint</Application>
  <PresentationFormat>Widescreen</PresentationFormat>
  <Paragraphs>231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Saketh Vutharavalli</cp:lastModifiedBy>
  <cp:revision>2</cp:revision>
  <dcterms:created xsi:type="dcterms:W3CDTF">2026-09-30T09:33:54Z</dcterms:created>
  <dcterms:modified xsi:type="dcterms:W3CDTF">2026-09-30T10:08:02Z</dcterms:modified>
</cp:coreProperties>
</file>